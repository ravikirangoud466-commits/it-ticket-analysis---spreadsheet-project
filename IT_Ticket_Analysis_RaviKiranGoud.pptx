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8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kiran goud" userId="1f991de7ac14fb25" providerId="LiveId" clId="{B5B34647-30AF-4CFF-9CA4-107634049829}"/>
    <pc:docChg chg="modSld">
      <pc:chgData name="ravikiran goud" userId="1f991de7ac14fb25" providerId="LiveId" clId="{B5B34647-30AF-4CFF-9CA4-107634049829}" dt="2026-09-30T16:50:59.474" v="7" actId="20577"/>
      <pc:docMkLst>
        <pc:docMk/>
      </pc:docMkLst>
      <pc:sldChg chg="modSp mod">
        <pc:chgData name="ravikiran goud" userId="1f991de7ac14fb25" providerId="LiveId" clId="{B5B34647-30AF-4CFF-9CA4-107634049829}" dt="2026-09-30T16:50:46.358" v="3" actId="20577"/>
        <pc:sldMkLst>
          <pc:docMk/>
          <pc:sldMk cId="0" sldId="256"/>
        </pc:sldMkLst>
        <pc:spChg chg="mod">
          <ac:chgData name="ravikiran goud" userId="1f991de7ac14fb25" providerId="LiveId" clId="{B5B34647-30AF-4CFF-9CA4-107634049829}" dt="2026-09-30T16:50:46.358" v="3" actId="20577"/>
          <ac:spMkLst>
            <pc:docMk/>
            <pc:sldMk cId="0" sldId="256"/>
            <ac:spMk id="8" creationId="{00000000-0000-0000-0000-000000000000}"/>
          </ac:spMkLst>
        </pc:spChg>
      </pc:sldChg>
      <pc:sldChg chg="modSp mod">
        <pc:chgData name="ravikiran goud" userId="1f991de7ac14fb25" providerId="LiveId" clId="{B5B34647-30AF-4CFF-9CA4-107634049829}" dt="2026-09-30T16:50:59.474" v="7" actId="20577"/>
        <pc:sldMkLst>
          <pc:docMk/>
          <pc:sldMk cId="0" sldId="278"/>
        </pc:sldMkLst>
        <pc:spChg chg="mod">
          <ac:chgData name="ravikiran goud" userId="1f991de7ac14fb25" providerId="LiveId" clId="{B5B34647-30AF-4CFF-9CA4-107634049829}" dt="2026-09-30T16:50:59.474" v="7" actId="20577"/>
          <ac:spMkLst>
            <pc:docMk/>
            <pc:sldMk cId="0" sldId="278"/>
            <ac:spMk id="11"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Tickets</c:v>
                </c:pt>
              </c:strCache>
            </c:strRef>
          </c:tx>
          <c:spPr>
            <a:ln w="38100" cap="flat">
              <a:solidFill>
                <a:srgbClr val="1E2761"/>
              </a:solidFill>
              <a:prstDash val="solid"/>
              <a:round/>
            </a:ln>
            <a:effectLst/>
          </c:spPr>
          <c:marker>
            <c:symbol val="circle"/>
            <c:size val="8"/>
            <c:spPr>
              <a:solidFill>
                <a:srgbClr val="1E2761"/>
              </a:solidFill>
              <a:ln w="9525" cap="flat">
                <a:solidFill>
                  <a:srgbClr val="1E2761"/>
                </a:solidFill>
                <a:prstDash val="solid"/>
                <a:round/>
              </a:ln>
              <a:effectLst/>
            </c:spPr>
          </c:marker>
          <c:dLbls>
            <c:numFmt formatCode="#,##0" sourceLinked="0"/>
            <c:spPr>
              <a:noFill/>
              <a:ln>
                <a:noFill/>
              </a:ln>
              <a:effectLst/>
            </c:spPr>
            <c:txPr>
              <a:bodyPr/>
              <a:lstStyle/>
              <a:p>
                <a:pPr>
                  <a:defRPr sz="1100" b="0" i="0" u="none" strike="noStrike">
                    <a:solidFill>
                      <a:srgbClr val="1A1A1A"/>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2016</c:v>
                </c:pt>
                <c:pt idx="1">
                  <c:v>2017</c:v>
                </c:pt>
                <c:pt idx="2">
                  <c:v>2018</c:v>
                </c:pt>
                <c:pt idx="3">
                  <c:v>2019</c:v>
                </c:pt>
                <c:pt idx="4">
                  <c:v>2020</c:v>
                </c:pt>
              </c:strCache>
            </c:strRef>
          </c:cat>
          <c:val>
            <c:numRef>
              <c:f>Sheet1!$B$2:$B$6</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D5BD-4397-8760-9469B6199A6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33000"/>
          <c:min val="0"/>
        </c:scaling>
        <c:delete val="0"/>
        <c:axPos val="l"/>
        <c:majorGridlines>
          <c:spPr>
            <a:ln w="12700" cap="flat">
              <a:solidFill>
                <a:srgbClr val="E6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Tickets</c:v>
                </c:pt>
              </c:strCache>
            </c:strRef>
          </c:tx>
          <c:spPr>
            <a:solidFill>
              <a:srgbClr val="1E2761"/>
            </a:solidFill>
            <a:effectLst/>
          </c:spPr>
          <c:invertIfNegative val="0"/>
          <c:dLbls>
            <c:numFmt formatCode="#,##0" sourceLinked="0"/>
            <c:spPr>
              <a:noFill/>
              <a:ln>
                <a:noFill/>
              </a:ln>
              <a:effectLst/>
            </c:spPr>
            <c:txPr>
              <a:bodyPr/>
              <a:lstStyle/>
              <a:p>
                <a:pPr>
                  <a:defRPr sz="11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Hardware</c:v>
                </c:pt>
                <c:pt idx="1">
                  <c:v>Software</c:v>
                </c:pt>
                <c:pt idx="2">
                  <c:v>Login Access</c:v>
                </c:pt>
                <c:pt idx="3">
                  <c:v>System</c:v>
                </c:pt>
              </c:strCache>
            </c:strRef>
          </c:cat>
          <c:val>
            <c:numRef>
              <c:f>Sheet1!$B$2:$B$5</c:f>
              <c:numCache>
                <c:formatCode>General</c:formatCode>
                <c:ptCount val="4"/>
                <c:pt idx="0">
                  <c:v>9733</c:v>
                </c:pt>
                <c:pt idx="1">
                  <c:v>19570</c:v>
                </c:pt>
                <c:pt idx="2">
                  <c:v>29193</c:v>
                </c:pt>
                <c:pt idx="3">
                  <c:v>39002</c:v>
                </c:pt>
              </c:numCache>
            </c:numRef>
          </c:val>
          <c:extLst>
            <c:ext xmlns:c16="http://schemas.microsoft.com/office/drawing/2014/chart" uri="{C3380CC4-5D6E-409C-BE32-E72D297353CC}">
              <c16:uniqueId val="{00000000-DE7E-4BC9-B64A-9D1EA45A34A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45000"/>
          <c:min val="0"/>
        </c:scaling>
        <c:delete val="0"/>
        <c:axPos val="b"/>
        <c:majorGridlines>
          <c:spPr>
            <a:ln w="12700" cap="flat">
              <a:solidFill>
                <a:srgbClr val="E6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days</c:v>
                </c:pt>
              </c:strCache>
            </c:strRef>
          </c:tx>
          <c:spPr>
            <a:solidFill>
              <a:srgbClr val="E8833A"/>
            </a:solidFill>
            <a:effectLst/>
          </c:spPr>
          <c:invertIfNegative val="0"/>
          <c:dLbls>
            <c:numFmt formatCode="0.00" sourceLinked="0"/>
            <c:spPr>
              <a:noFill/>
              <a:ln>
                <a:noFill/>
              </a:ln>
              <a:effectLst/>
            </c:spPr>
            <c:txPr>
              <a:bodyPr/>
              <a:lstStyle/>
              <a:p>
                <a:pPr>
                  <a:defRPr sz="11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Login Access</c:v>
                </c:pt>
                <c:pt idx="1">
                  <c:v>Software</c:v>
                </c:pt>
                <c:pt idx="2">
                  <c:v>System</c:v>
                </c:pt>
                <c:pt idx="3">
                  <c:v>Hardware</c:v>
                </c:pt>
              </c:strCache>
            </c:strRef>
          </c:cat>
          <c:val>
            <c:numRef>
              <c:f>Sheet1!$B$2:$B$5</c:f>
              <c:numCache>
                <c:formatCode>General</c:formatCode>
                <c:ptCount val="4"/>
                <c:pt idx="0">
                  <c:v>0.31</c:v>
                </c:pt>
                <c:pt idx="1">
                  <c:v>5.24</c:v>
                </c:pt>
                <c:pt idx="2">
                  <c:v>6.62</c:v>
                </c:pt>
                <c:pt idx="3">
                  <c:v>7.63</c:v>
                </c:pt>
              </c:numCache>
            </c:numRef>
          </c:val>
          <c:extLst>
            <c:ext xmlns:c16="http://schemas.microsoft.com/office/drawing/2014/chart" uri="{C3380CC4-5D6E-409C-BE32-E72D297353CC}">
              <c16:uniqueId val="{00000000-925D-474E-B3AD-0BED50632EA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12700" cap="flat">
              <a:solidFill>
                <a:srgbClr val="E6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days</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6B50-4D6E-8660-7436A65B4AD6}"/>
              </c:ext>
            </c:extLst>
          </c:dPt>
          <c:dPt>
            <c:idx val="1"/>
            <c:invertIfNegative val="0"/>
            <c:bubble3D val="0"/>
            <c:extLst>
              <c:ext xmlns:c16="http://schemas.microsoft.com/office/drawing/2014/chart" uri="{C3380CC4-5D6E-409C-BE32-E72D297353CC}">
                <c16:uniqueId val="{00000003-6B50-4D6E-8660-7436A65B4AD6}"/>
              </c:ext>
            </c:extLst>
          </c:dPt>
          <c:dPt>
            <c:idx val="2"/>
            <c:invertIfNegative val="0"/>
            <c:bubble3D val="0"/>
            <c:extLst>
              <c:ext xmlns:c16="http://schemas.microsoft.com/office/drawing/2014/chart" uri="{C3380CC4-5D6E-409C-BE32-E72D297353CC}">
                <c16:uniqueId val="{00000005-6B50-4D6E-8660-7436A65B4AD6}"/>
              </c:ext>
            </c:extLst>
          </c:dPt>
          <c:dPt>
            <c:idx val="3"/>
            <c:invertIfNegative val="0"/>
            <c:bubble3D val="0"/>
            <c:spPr>
              <a:solidFill>
                <a:srgbClr val="2C7A4B"/>
              </a:solidFill>
              <a:effectLst/>
            </c:spPr>
            <c:extLst>
              <c:ext xmlns:c16="http://schemas.microsoft.com/office/drawing/2014/chart" uri="{C3380CC4-5D6E-409C-BE32-E72D297353CC}">
                <c16:uniqueId val="{00000007-6B50-4D6E-8660-7436A65B4AD6}"/>
              </c:ext>
            </c:extLst>
          </c:dPt>
          <c:dPt>
            <c:idx val="4"/>
            <c:invertIfNegative val="0"/>
            <c:bubble3D val="0"/>
            <c:spPr>
              <a:solidFill>
                <a:srgbClr val="C0392B"/>
              </a:solidFill>
              <a:effectLst/>
            </c:spPr>
            <c:extLst>
              <c:ext xmlns:c16="http://schemas.microsoft.com/office/drawing/2014/chart" uri="{C3380CC4-5D6E-409C-BE32-E72D297353CC}">
                <c16:uniqueId val="{00000009-6B50-4D6E-8660-7436A65B4AD6}"/>
              </c:ext>
            </c:extLst>
          </c:dPt>
          <c:dLbls>
            <c:numFmt formatCode="0.00" sourceLinked="0"/>
            <c:spPr>
              <a:noFill/>
              <a:ln>
                <a:noFill/>
              </a:ln>
              <a:effectLst/>
            </c:spPr>
            <c:txPr>
              <a:bodyPr/>
              <a:lstStyle/>
              <a:p>
                <a:pPr>
                  <a:defRPr sz="11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Unclassified</c:v>
                </c:pt>
                <c:pt idx="1">
                  <c:v>Minor</c:v>
                </c:pt>
                <c:pt idx="2">
                  <c:v>Major</c:v>
                </c:pt>
                <c:pt idx="3">
                  <c:v>Urgent</c:v>
                </c:pt>
                <c:pt idx="4">
                  <c:v>Normal</c:v>
                </c:pt>
              </c:strCache>
            </c:strRef>
          </c:cat>
          <c:val>
            <c:numRef>
              <c:f>Sheet1!$B$2:$B$6</c:f>
              <c:numCache>
                <c:formatCode>General</c:formatCode>
                <c:ptCount val="5"/>
                <c:pt idx="0">
                  <c:v>2.88</c:v>
                </c:pt>
                <c:pt idx="1">
                  <c:v>3.44</c:v>
                </c:pt>
                <c:pt idx="2">
                  <c:v>3.91</c:v>
                </c:pt>
                <c:pt idx="3">
                  <c:v>2</c:v>
                </c:pt>
                <c:pt idx="4">
                  <c:v>4.66</c:v>
                </c:pt>
              </c:numCache>
            </c:numRef>
          </c:val>
          <c:extLst>
            <c:ext xmlns:c16="http://schemas.microsoft.com/office/drawing/2014/chart" uri="{C3380CC4-5D6E-409C-BE32-E72D297353CC}">
              <c16:uniqueId val="{0000000A-6B50-4D6E-8660-7436A65B4AD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5.6"/>
          <c:min val="0"/>
        </c:scaling>
        <c:delete val="0"/>
        <c:axPos val="l"/>
        <c:majorGridlines>
          <c:spPr>
            <a:ln w="12700" cap="flat">
              <a:solidFill>
                <a:srgbClr val="E6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satisfaction</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74B9-48B6-8E6D-BBD92BD57823}"/>
              </c:ext>
            </c:extLst>
          </c:dPt>
          <c:dPt>
            <c:idx val="1"/>
            <c:invertIfNegative val="0"/>
            <c:bubble3D val="0"/>
            <c:extLst>
              <c:ext xmlns:c16="http://schemas.microsoft.com/office/drawing/2014/chart" uri="{C3380CC4-5D6E-409C-BE32-E72D297353CC}">
                <c16:uniqueId val="{00000003-74B9-48B6-8E6D-BBD92BD57823}"/>
              </c:ext>
            </c:extLst>
          </c:dPt>
          <c:dPt>
            <c:idx val="2"/>
            <c:invertIfNegative val="0"/>
            <c:bubble3D val="0"/>
            <c:extLst>
              <c:ext xmlns:c16="http://schemas.microsoft.com/office/drawing/2014/chart" uri="{C3380CC4-5D6E-409C-BE32-E72D297353CC}">
                <c16:uniqueId val="{00000005-74B9-48B6-8E6D-BBD92BD57823}"/>
              </c:ext>
            </c:extLst>
          </c:dPt>
          <c:dPt>
            <c:idx val="3"/>
            <c:invertIfNegative val="0"/>
            <c:bubble3D val="0"/>
            <c:spPr>
              <a:solidFill>
                <a:srgbClr val="6B7280"/>
              </a:solidFill>
              <a:effectLst/>
            </c:spPr>
            <c:extLst>
              <c:ext xmlns:c16="http://schemas.microsoft.com/office/drawing/2014/chart" uri="{C3380CC4-5D6E-409C-BE32-E72D297353CC}">
                <c16:uniqueId val="{00000007-74B9-48B6-8E6D-BBD92BD57823}"/>
              </c:ext>
            </c:extLst>
          </c:dPt>
          <c:dPt>
            <c:idx val="4"/>
            <c:invertIfNegative val="0"/>
            <c:bubble3D val="0"/>
            <c:spPr>
              <a:solidFill>
                <a:srgbClr val="2C7A4B"/>
              </a:solidFill>
              <a:effectLst/>
            </c:spPr>
            <c:extLst>
              <c:ext xmlns:c16="http://schemas.microsoft.com/office/drawing/2014/chart" uri="{C3380CC4-5D6E-409C-BE32-E72D297353CC}">
                <c16:uniqueId val="{00000009-74B9-48B6-8E6D-BBD92BD57823}"/>
              </c:ext>
            </c:extLst>
          </c:dPt>
          <c:dPt>
            <c:idx val="5"/>
            <c:invertIfNegative val="0"/>
            <c:bubble3D val="0"/>
            <c:spPr>
              <a:solidFill>
                <a:srgbClr val="2C7A4B"/>
              </a:solidFill>
              <a:effectLst/>
            </c:spPr>
            <c:extLst>
              <c:ext xmlns:c16="http://schemas.microsoft.com/office/drawing/2014/chart" uri="{C3380CC4-5D6E-409C-BE32-E72D297353CC}">
                <c16:uniqueId val="{0000000B-74B9-48B6-8E6D-BBD92BD57823}"/>
              </c:ext>
            </c:extLst>
          </c:dPt>
          <c:dLbls>
            <c:numFmt formatCode="0.00" sourceLinked="0"/>
            <c:spPr>
              <a:noFill/>
              <a:ln>
                <a:noFill/>
              </a:ln>
              <a:effectLst/>
            </c:spPr>
            <c:txPr>
              <a:bodyPr/>
              <a:lstStyle/>
              <a:p>
                <a:pPr>
                  <a:defRPr sz="11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Alfonso Barraza</c:v>
                </c:pt>
                <c:pt idx="1">
                  <c:v>Alberto Trejo</c:v>
                </c:pt>
                <c:pt idx="2">
                  <c:v>Sandra Lujan</c:v>
                </c:pt>
                <c:pt idx="3">
                  <c:v>Team average</c:v>
                </c:pt>
                <c:pt idx="4">
                  <c:v>Jesus Grajeda</c:v>
                </c:pt>
                <c:pt idx="5">
                  <c:v>Diana Rojo</c:v>
                </c:pt>
              </c:strCache>
            </c:strRef>
          </c:cat>
          <c:val>
            <c:numRef>
              <c:f>Sheet1!$B$2:$B$7</c:f>
              <c:numCache>
                <c:formatCode>General</c:formatCode>
                <c:ptCount val="6"/>
                <c:pt idx="0">
                  <c:v>3.04</c:v>
                </c:pt>
                <c:pt idx="1">
                  <c:v>3.59</c:v>
                </c:pt>
                <c:pt idx="2">
                  <c:v>3.6</c:v>
                </c:pt>
                <c:pt idx="3">
                  <c:v>4.0999999999999996</c:v>
                </c:pt>
                <c:pt idx="4">
                  <c:v>4.47</c:v>
                </c:pt>
                <c:pt idx="5">
                  <c:v>4.5999999999999996</c:v>
                </c:pt>
              </c:numCache>
            </c:numRef>
          </c:val>
          <c:extLst>
            <c:ext xmlns:c16="http://schemas.microsoft.com/office/drawing/2014/chart" uri="{C3380CC4-5D6E-409C-BE32-E72D297353CC}">
              <c16:uniqueId val="{0000000C-74B9-48B6-8E6D-BBD92BD5782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5.4"/>
          <c:min val="0"/>
        </c:scaling>
        <c:delete val="0"/>
        <c:axPos val="b"/>
        <c:majorGridlines>
          <c:spPr>
            <a:ln w="12700" cap="flat">
              <a:solidFill>
                <a:srgbClr val="E6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Tickets</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A0CF-497E-B0C5-DDB3C632FD42}"/>
              </c:ext>
            </c:extLst>
          </c:dPt>
          <c:dPt>
            <c:idx val="1"/>
            <c:invertIfNegative val="0"/>
            <c:bubble3D val="0"/>
            <c:extLst>
              <c:ext xmlns:c16="http://schemas.microsoft.com/office/drawing/2014/chart" uri="{C3380CC4-5D6E-409C-BE32-E72D297353CC}">
                <c16:uniqueId val="{00000003-A0CF-497E-B0C5-DDB3C632FD42}"/>
              </c:ext>
            </c:extLst>
          </c:dPt>
          <c:dPt>
            <c:idx val="2"/>
            <c:invertIfNegative val="0"/>
            <c:bubble3D val="0"/>
            <c:spPr>
              <a:solidFill>
                <a:srgbClr val="C0392B"/>
              </a:solidFill>
              <a:effectLst/>
            </c:spPr>
            <c:extLst>
              <c:ext xmlns:c16="http://schemas.microsoft.com/office/drawing/2014/chart" uri="{C3380CC4-5D6E-409C-BE32-E72D297353CC}">
                <c16:uniqueId val="{00000005-A0CF-497E-B0C5-DDB3C632FD42}"/>
              </c:ext>
            </c:extLst>
          </c:dPt>
          <c:dPt>
            <c:idx val="3"/>
            <c:invertIfNegative val="0"/>
            <c:bubble3D val="0"/>
            <c:extLst>
              <c:ext xmlns:c16="http://schemas.microsoft.com/office/drawing/2014/chart" uri="{C3380CC4-5D6E-409C-BE32-E72D297353CC}">
                <c16:uniqueId val="{00000007-A0CF-497E-B0C5-DDB3C632FD42}"/>
              </c:ext>
            </c:extLst>
          </c:dPt>
          <c:dLbls>
            <c:numFmt formatCode="#,##0" sourceLinked="0"/>
            <c:spPr>
              <a:noFill/>
              <a:ln>
                <a:noFill/>
              </a:ln>
              <a:effectLst/>
            </c:spPr>
            <c:txPr>
              <a:bodyPr/>
              <a:lstStyle/>
              <a:p>
                <a:pPr>
                  <a:defRPr sz="11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Mid</c:v>
                </c:pt>
                <c:pt idx="1">
                  <c:v>Low</c:v>
                </c:pt>
                <c:pt idx="2">
                  <c:v>Unassigned</c:v>
                </c:pt>
                <c:pt idx="3">
                  <c:v>High</c:v>
                </c:pt>
              </c:strCache>
            </c:strRef>
          </c:cat>
          <c:val>
            <c:numRef>
              <c:f>Sheet1!$B$2:$B$5</c:f>
              <c:numCache>
                <c:formatCode>General</c:formatCode>
                <c:ptCount val="4"/>
                <c:pt idx="0">
                  <c:v>15845</c:v>
                </c:pt>
                <c:pt idx="1">
                  <c:v>16694</c:v>
                </c:pt>
                <c:pt idx="2">
                  <c:v>29410</c:v>
                </c:pt>
                <c:pt idx="3">
                  <c:v>35549</c:v>
                </c:pt>
              </c:numCache>
            </c:numRef>
          </c:val>
          <c:extLst>
            <c:ext xmlns:c16="http://schemas.microsoft.com/office/drawing/2014/chart" uri="{C3380CC4-5D6E-409C-BE32-E72D297353CC}">
              <c16:uniqueId val="{00000008-A0CF-497E-B0C5-DDB3C632FD4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40000"/>
          <c:min val="0"/>
        </c:scaling>
        <c:delete val="0"/>
        <c:axPos val="b"/>
        <c:majorGridlines>
          <c:spPr>
            <a:ln w="12700" cap="flat">
              <a:solidFill>
                <a:srgbClr val="E6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Tickets</c:v>
                </c:pt>
              </c:strCache>
            </c:strRef>
          </c:tx>
          <c:spPr>
            <a:solidFill>
              <a:srgbClr val="1E2761"/>
            </a:solidFill>
            <a:effectLst/>
          </c:spPr>
          <c:invertIfNegative val="0"/>
          <c:cat>
            <c:strRef>
              <c:f>Sheet1!$A$2:$A$6</c:f>
              <c:strCache>
                <c:ptCount val="5"/>
                <c:pt idx="0">
                  <c:v>2016</c:v>
                </c:pt>
                <c:pt idx="1">
                  <c:v>2017</c:v>
                </c:pt>
                <c:pt idx="2">
                  <c:v>2018</c:v>
                </c:pt>
                <c:pt idx="3">
                  <c:v>2019</c:v>
                </c:pt>
                <c:pt idx="4">
                  <c:v>2020</c:v>
                </c:pt>
              </c:strCache>
            </c:strRef>
          </c:cat>
          <c:val>
            <c:numRef>
              <c:f>Sheet1!$B$2:$B$6</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3782-45C7-B569-CFF6C87CF191}"/>
            </c:ext>
          </c:extLst>
        </c:ser>
        <c:dLbls>
          <c:showLegendKey val="0"/>
          <c:showVal val="0"/>
          <c:showCatName val="0"/>
          <c:showSerName val="0"/>
          <c:showPercent val="0"/>
          <c:showBubbleSize val="0"/>
        </c:dLbls>
        <c:gapWidth val="150"/>
        <c:axId val="2094734554"/>
        <c:axId val="2094734552"/>
      </c:barChart>
      <c:lineChart>
        <c:grouping val="standard"/>
        <c:varyColors val="0"/>
        <c:ser>
          <c:idx val="1"/>
          <c:order val="1"/>
          <c:tx>
            <c:strRef>
              <c:f>Sheet1!$C$1</c:f>
              <c:strCache>
                <c:ptCount val="1"/>
                <c:pt idx="0">
                  <c:v>Avg satisfaction</c:v>
                </c:pt>
              </c:strCache>
            </c:strRef>
          </c:tx>
          <c:spPr>
            <a:ln w="38100" cap="flat">
              <a:solidFill>
                <a:srgbClr val="E8833A"/>
              </a:solidFill>
              <a:prstDash val="solid"/>
              <a:round/>
            </a:ln>
            <a:effectLst/>
          </c:spPr>
          <c:marker>
            <c:symbol val="circle"/>
            <c:size val="8"/>
            <c:spPr>
              <a:solidFill>
                <a:srgbClr val="E8833A"/>
              </a:solidFill>
              <a:ln w="9525" cap="flat">
                <a:solidFill>
                  <a:srgbClr val="E8833A"/>
                </a:solidFill>
                <a:prstDash val="solid"/>
                <a:round/>
              </a:ln>
              <a:effectLst/>
            </c:spPr>
          </c:marker>
          <c:cat>
            <c:strRef>
              <c:f>Sheet1!$A$2:$A$6</c:f>
              <c:strCache>
                <c:ptCount val="5"/>
                <c:pt idx="0">
                  <c:v>2016</c:v>
                </c:pt>
                <c:pt idx="1">
                  <c:v>2017</c:v>
                </c:pt>
                <c:pt idx="2">
                  <c:v>2018</c:v>
                </c:pt>
                <c:pt idx="3">
                  <c:v>2019</c:v>
                </c:pt>
                <c:pt idx="4">
                  <c:v>2020</c:v>
                </c:pt>
              </c:strCache>
            </c:strRef>
          </c:cat>
          <c:val>
            <c:numRef>
              <c:f>Sheet1!$C$2:$C$6</c:f>
              <c:numCache>
                <c:formatCode>General</c:formatCode>
                <c:ptCount val="5"/>
                <c:pt idx="0">
                  <c:v>3.98</c:v>
                </c:pt>
                <c:pt idx="1">
                  <c:v>4.07</c:v>
                </c:pt>
                <c:pt idx="2">
                  <c:v>4.09</c:v>
                </c:pt>
                <c:pt idx="3">
                  <c:v>4.12</c:v>
                </c:pt>
                <c:pt idx="4">
                  <c:v>4.16</c:v>
                </c:pt>
              </c:numCache>
            </c:numRef>
          </c:val>
          <c:smooth val="0"/>
          <c:extLst>
            <c:ext xmlns:c16="http://schemas.microsoft.com/office/drawing/2014/chart" uri="{C3380CC4-5D6E-409C-BE32-E72D297353CC}">
              <c16:uniqueId val="{00000001-3782-45C7-B569-CFF6C87CF191}"/>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32000"/>
          <c:min val="0"/>
        </c:scaling>
        <c:delete val="0"/>
        <c:axPos val="l"/>
        <c:majorGridlines>
          <c:spPr>
            <a:ln w="12700" cap="flat">
              <a:solidFill>
                <a:srgbClr val="E6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valAx>
      <c:valAx>
        <c:axId val="2094734553"/>
        <c:scaling>
          <c:orientation val="minMax"/>
          <c:max val="4.5"/>
          <c:min val="3.5"/>
        </c:scaling>
        <c:delete val="0"/>
        <c:axPos val="r"/>
        <c:majorGridlines>
          <c:spPr>
            <a:ln w="12700" cap="flat">
              <a:solidFill>
                <a:srgbClr val="E6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E8833A"/>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239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the next fifteen minutes I'll take you through an analysis of 97,498 IT support tickets raised between 2016 and 2020 and handled by 50 agents. The question I was asked to answer is where the next investment should go - more agents, better training, or new software. The data gives a clear answer, and it isn't the one most people expect.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as set out in the project brief: analyse the ticket management system to understand agent performance, resolution efficiency and employee satisfaction, identify high and low performers, and ultimately make informed staffing decisions on hiring, firing and training. On the left is what the data looked like on arrival, and on the right are the four questions I turned that objective into. Everything in this deck answers one of those four.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is that this organisation logs 53 tickets every single day, and that rate is still rising. The project set out to measure agent performance, find where resolution time is lost, understand what drives satisfaction, and ultimately answer one investment question: hire, train, or upgrade the software.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97,498 tickets across two sheets with sixteen attributes, covering every day for five years with no gaps. Cleaning found two things: three spelling errors affecting nearly 35,000 records, and - less obviously - fourteen of the fifty agent names were malformed. That second one matters because the column has no blanks, so a standard null check passes it clean.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native Excel. Cleaning with text functions, enrichment with VLOOKUP, derived age fields with DATEDIF, a correlation test with CORREL, and then pivot tables and charts feeding a slicer-driven dashboard. The workbook has one sheet per question so every number in this deck is traceable.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objective finding: demand is growing relentlessly. Volume rose from just over thirteen thousand tickets in 2016 to twenty-nine thousand in 2020 - up 123 percent. No year fell, and 2020 was the steepest of all. This is the backdrop to every recommendation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finding. System carries forty percent of the workload at six and a half days, while Login Access handles nearly thirty thousand tickets in a third of a day. That twenty-five fold gap is driven by category, not by how urgent the ticket is - which brings me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objective finding, and the one that should worry us. Severity is supposed to govern urgency. I tested it directly: the correlation between severity and resolution time is minus zero point zero four - effectively zero. Worse, it runs the wrong way. Urgent tickets close in two days but ordinary Normal tickets take four and a half. Triage is not working.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subjective insights. This is the most important slide in the deck. On caseloads within nine percent of each other, one agent averages three point zero four out of five and another averages four point six. That gap is not workload and it is not seniority - it is individual, which means training can close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subjective insight. Twenty-nine thousand four hundred tickets - thirty percent of everything logged - were never given a priority. Combined with the inverted triage from slide seven, that is a configuration failure in the ticketing tool, not an agent failure. And it is the cheapest thing on the list to fix.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insight has two halves, and I want to be straight about the second. The good news: resolution time stayed flat at about four and a half days while volume doubled, and satisfaction rose every year. The caution: satisfaction barely responds to speed - the correlation is minus zero point zero zero four. So technology buys us throughput, but training is what buys satisfaction.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one: fund training now. The reasoning is a chain - workload is even, so hiring removes no bottleneck; satisfaction varies by one and a half points on the same caseload, so the gap is skill; and skill gaps close with coaching at one-off cost. Note we need two different programmes, because the least-liked agents and the slowest agents are completely different people.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two: the software upgrade, phased in after training. Four concrete fixes, starting with the cheapest - make the priority field mandatory. And to size the prize: closing even a third of the System gap takes the company-wide average from four and a half days to under four, without hiring anyone.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three is about what not to do. Don't hire yet - there's no bottleneck. And on whether anyone should be let go: no. Every agent is doing the work, the weakest score is above the middle of the scale, and the slowest agent is less than a day off the average. This is a coaching gap, not a performance crisis.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Four KPI cards across the top, three slicers down the left, and twelve charts covering scale, classification, efficiency, triage health, distribution and trend. The slicers are connected to every pivot table, so you can interrogate any combination live - for example 2020 plus Hardware plus Unassigned isolates the slowest, least-governed part of the queue instantly.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the dashboard walkthrough. These two charts set the scale: System is forty percent of the workload, and total volume has more than doubled with no sign of levelling off.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charts show how tickets are classified on the way in. Ninety-one percent are logged as Normal, so severity barely discriminates at all. And thirty percent never get a priority. Together these explain why the queue cannot be sequenced properly.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efficiency. Hardware takes over seven and a half days, Login Access a third of a day. And the quarter-wise view on the right is important: that gap holds in every single quarter, which tells us it is structural, not a seasonal blip.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health. On the left, the inversion - Urgent resolves fastest but Normal is slowest, and the correlation is effectively zero. On the right, a question the agent ranking alone cannot settle: age explains almost none of the variation, so the performance gap is individual.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distribution charts are the most revealing on the dashboard. Both headline averages hide heavily skewed data. Satisfaction is bimodal - fifty thousand fives against ten thousand ones. And resolution time has a long tail: nearly ten thousand tickets take more than eleven days. Watch those tails, not the averages.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trend view. Satisfaction rose every year and resolution time stayed flat while volume doubled. That matters for the investment case: we are funding improvement from a position of strength, not firefighting a crisis.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team absorbed a doubling of demand without dropping speed or satisfaction. The weaknesses are specific and fixable, and none of them are about headcount. Train first, because it's the fastest and cheapest return. Upgrade the tooling next, because that's what makes this scale. Hold on hiring until both are done. And on this evidence, no one should be dismissed.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sources and acknowledgements. Everything here comes from the supplied dataset - no external data. Built entirely in Excel using the functions listed.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141C45"/>
          </a:solidFill>
          <a:ln/>
        </p:spPr>
      </p:sp>
      <p:sp>
        <p:nvSpPr>
          <p:cNvPr id="3" name="Shape 1"/>
          <p:cNvSpPr/>
          <p:nvPr/>
        </p:nvSpPr>
        <p:spPr>
          <a:xfrm>
            <a:off x="10058400" y="4023360"/>
            <a:ext cx="3108960" cy="3108960"/>
          </a:xfrm>
          <a:prstGeom prst="ellipse">
            <a:avLst/>
          </a:prstGeom>
          <a:solidFill>
            <a:srgbClr val="25316B"/>
          </a:solidFill>
          <a:ln/>
        </p:spPr>
      </p:sp>
      <p:sp>
        <p:nvSpPr>
          <p:cNvPr id="4" name="Text 2"/>
          <p:cNvSpPr txBox="1"/>
          <p:nvPr/>
        </p:nvSpPr>
        <p:spPr>
          <a:xfrm>
            <a:off x="594360" y="2057400"/>
            <a:ext cx="7315200" cy="310896"/>
          </a:xfrm>
          <a:prstGeom prst="rect">
            <a:avLst/>
          </a:prstGeom>
          <a:noFill/>
          <a:ln/>
        </p:spPr>
        <p:txBody>
          <a:bodyPr wrap="square" lIns="0" tIns="0" rIns="0" bIns="0" rtlCol="0" anchor="ctr"/>
          <a:lstStyle/>
          <a:p>
            <a:pPr marL="0" indent="0">
              <a:buNone/>
            </a:pPr>
            <a:r>
              <a:rPr lang="en-US" sz="1300" b="1" kern="0" spc="300" dirty="0">
                <a:solidFill>
                  <a:srgbClr val="E8833A"/>
                </a:solidFill>
                <a:latin typeface="Calibri" pitchFamily="34" charset="0"/>
                <a:ea typeface="Calibri" pitchFamily="34" charset="-122"/>
                <a:cs typeface="Calibri" pitchFamily="34" charset="-120"/>
              </a:rPr>
              <a:t>SPREADSHEET PROJECT</a:t>
            </a:r>
            <a:endParaRPr lang="en-US" sz="1300" dirty="0"/>
          </a:p>
        </p:txBody>
      </p:sp>
      <p:sp>
        <p:nvSpPr>
          <p:cNvPr id="5" name="Text 3"/>
          <p:cNvSpPr txBox="1"/>
          <p:nvPr/>
        </p:nvSpPr>
        <p:spPr>
          <a:xfrm>
            <a:off x="566928" y="2395728"/>
            <a:ext cx="841248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IT Ticket Analysis</a:t>
            </a:r>
            <a:endParaRPr lang="en-US" sz="5400" dirty="0"/>
          </a:p>
        </p:txBody>
      </p:sp>
      <p:sp>
        <p:nvSpPr>
          <p:cNvPr id="6" name="Text 4"/>
          <p:cNvSpPr txBox="1"/>
          <p:nvPr/>
        </p:nvSpPr>
        <p:spPr>
          <a:xfrm>
            <a:off x="594360" y="3602736"/>
            <a:ext cx="7772400" cy="5486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Agent performance, resolution efficiency and where the next rupee should go</a:t>
            </a:r>
            <a:endParaRPr lang="en-US" sz="1500" dirty="0"/>
          </a:p>
        </p:txBody>
      </p:sp>
      <p:sp>
        <p:nvSpPr>
          <p:cNvPr id="7" name="Text 5"/>
          <p:cNvSpPr txBox="1"/>
          <p:nvPr/>
        </p:nvSpPr>
        <p:spPr>
          <a:xfrm>
            <a:off x="594360" y="4846320"/>
            <a:ext cx="5486400" cy="384048"/>
          </a:xfrm>
          <a:prstGeom prst="rect">
            <a:avLst/>
          </a:prstGeom>
          <a:noFill/>
          <a:ln/>
        </p:spPr>
        <p:txBody>
          <a:bodyPr wrap="square" lIns="0" tIns="0" rIns="0" bIns="0" rtlCol="0" anchor="ctr"/>
          <a:lstStyle/>
          <a:p>
            <a:pPr marL="0" indent="0">
              <a:buNone/>
            </a:pPr>
            <a:r>
              <a:rPr lang="en-US" sz="1900" b="1" kern="0" spc="100" dirty="0">
                <a:solidFill>
                  <a:srgbClr val="FFFFFF"/>
                </a:solidFill>
                <a:latin typeface="Calibri" pitchFamily="34" charset="0"/>
                <a:ea typeface="Calibri" pitchFamily="34" charset="-122"/>
                <a:cs typeface="Calibri" pitchFamily="34" charset="-120"/>
              </a:rPr>
              <a:t>RAVIKIRAN GOUD</a:t>
            </a:r>
            <a:endParaRPr lang="en-US" sz="1900" dirty="0"/>
          </a:p>
        </p:txBody>
      </p:sp>
      <p:sp>
        <p:nvSpPr>
          <p:cNvPr id="8" name="Text 6"/>
          <p:cNvSpPr txBox="1"/>
          <p:nvPr/>
        </p:nvSpPr>
        <p:spPr>
          <a:xfrm>
            <a:off x="594360" y="5248656"/>
            <a:ext cx="5486400" cy="292608"/>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30 September 2026</a:t>
            </a:r>
            <a:endParaRPr lang="en-US" sz="1250" dirty="0"/>
          </a:p>
        </p:txBody>
      </p:sp>
      <p:sp>
        <p:nvSpPr>
          <p:cNvPr id="9" name="Text 7"/>
          <p:cNvSpPr txBox="1"/>
          <p:nvPr/>
        </p:nvSpPr>
        <p:spPr>
          <a:xfrm>
            <a:off x="594360" y="5559552"/>
            <a:ext cx="6400800" cy="292608"/>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97,498 tickets  ·  50 IT agents  ·  2016 – 2020</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2</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66928" y="1225296"/>
            <a:ext cx="11055096" cy="1755648"/>
          </a:xfrm>
          <a:prstGeom prst="roundRect">
            <a:avLst>
              <a:gd name="adj" fmla="val 3125"/>
            </a:avLst>
          </a:prstGeom>
          <a:solidFill>
            <a:srgbClr val="FDF1E7"/>
          </a:solidFill>
          <a:ln/>
        </p:spPr>
      </p:sp>
      <p:sp>
        <p:nvSpPr>
          <p:cNvPr id="5" name="Text 3"/>
          <p:cNvSpPr txBox="1"/>
          <p:nvPr/>
        </p:nvSpPr>
        <p:spPr>
          <a:xfrm>
            <a:off x="841248" y="1335024"/>
            <a:ext cx="10515600" cy="1371600"/>
          </a:xfrm>
          <a:prstGeom prst="rect">
            <a:avLst/>
          </a:prstGeom>
          <a:noFill/>
          <a:ln/>
        </p:spPr>
        <p:txBody>
          <a:bodyPr wrap="square" lIns="0" tIns="0" rIns="0" bIns="0" rtlCol="0" anchor="ctr"/>
          <a:lstStyle/>
          <a:p>
            <a:pPr marL="0" indent="0">
              <a:lnSpc>
                <a:spcPts val="2000"/>
              </a:lnSpc>
              <a:buNone/>
            </a:pPr>
            <a:r>
              <a:rPr lang="en-US" sz="1350" i="1" dirty="0">
                <a:solidFill>
                  <a:srgbClr val="1A1A1A"/>
                </a:solidFill>
                <a:latin typeface="Calibri" pitchFamily="34" charset="0"/>
                <a:ea typeface="Calibri" pitchFamily="34" charset="-122"/>
                <a:cs typeface="Calibri" pitchFamily="34" charset="-120"/>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lang="en-US" sz="1350" dirty="0"/>
          </a:p>
        </p:txBody>
      </p:sp>
      <p:sp>
        <p:nvSpPr>
          <p:cNvPr id="6" name="Text 4"/>
          <p:cNvSpPr txBox="1"/>
          <p:nvPr/>
        </p:nvSpPr>
        <p:spPr>
          <a:xfrm>
            <a:off x="841248" y="2670048"/>
            <a:ext cx="10515600" cy="256032"/>
          </a:xfrm>
          <a:prstGeom prst="rect">
            <a:avLst/>
          </a:prstGeom>
          <a:noFill/>
          <a:ln/>
        </p:spPr>
        <p:txBody>
          <a:bodyPr wrap="square" lIns="0" tIns="0" rIns="0" bIns="0" rtlCol="0" anchor="ctr"/>
          <a:lstStyle/>
          <a:p>
            <a:pPr marL="0" indent="0">
              <a:buNone/>
            </a:pPr>
            <a:r>
              <a:rPr lang="en-US" sz="1050" b="1" dirty="0">
                <a:solidFill>
                  <a:srgbClr val="E8833A"/>
                </a:solidFill>
                <a:latin typeface="Calibri" pitchFamily="34" charset="0"/>
                <a:ea typeface="Calibri" pitchFamily="34" charset="-122"/>
                <a:cs typeface="Calibri" pitchFamily="34" charset="-120"/>
              </a:rPr>
              <a:t>— as set out in the project brief</a:t>
            </a:r>
            <a:endParaRPr lang="en-US" sz="1050" dirty="0"/>
          </a:p>
        </p:txBody>
      </p:sp>
      <p:sp>
        <p:nvSpPr>
          <p:cNvPr id="7" name="Text 5"/>
          <p:cNvSpPr txBox="1"/>
          <p:nvPr/>
        </p:nvSpPr>
        <p:spPr>
          <a:xfrm>
            <a:off x="566928" y="3163824"/>
            <a:ext cx="54864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Why it matters — what the data showed on arrival</a:t>
            </a:r>
            <a:endParaRPr lang="en-US" sz="1300" dirty="0"/>
          </a:p>
        </p:txBody>
      </p:sp>
      <p:sp>
        <p:nvSpPr>
          <p:cNvPr id="8" name="Text 6"/>
          <p:cNvSpPr txBox="1"/>
          <p:nvPr/>
        </p:nvSpPr>
        <p:spPr>
          <a:xfrm>
            <a:off x="566928" y="3493008"/>
            <a:ext cx="5486400" cy="22860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Ticket volume has more than doubled in five years and is still accelerating.</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Resolution time is reported only as one company-wide average, hiding a 25-fold gap between categories.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Agent performance had never been compared like-for-like, so nobody knew who was genuinely struggling.</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Nearly a third of tickets are logged with no priority, so the queue cannot be sequenced.</a:t>
            </a:r>
            <a:endParaRPr lang="en-US" sz="1250" dirty="0"/>
          </a:p>
        </p:txBody>
      </p:sp>
      <p:sp>
        <p:nvSpPr>
          <p:cNvPr id="9" name="Text 7"/>
          <p:cNvSpPr txBox="1"/>
          <p:nvPr/>
        </p:nvSpPr>
        <p:spPr>
          <a:xfrm>
            <a:off x="6492240" y="3163824"/>
            <a:ext cx="512064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The four questions this project answers</a:t>
            </a:r>
            <a:endParaRPr lang="en-US" sz="1300" dirty="0"/>
          </a:p>
        </p:txBody>
      </p:sp>
      <p:sp>
        <p:nvSpPr>
          <p:cNvPr id="10" name="Shape 8"/>
          <p:cNvSpPr/>
          <p:nvPr/>
        </p:nvSpPr>
        <p:spPr>
          <a:xfrm>
            <a:off x="6492240" y="3493008"/>
            <a:ext cx="420624" cy="420624"/>
          </a:xfrm>
          <a:prstGeom prst="ellipse">
            <a:avLst/>
          </a:prstGeom>
          <a:solidFill>
            <a:srgbClr val="1E2761"/>
          </a:solidFill>
          <a:ln/>
        </p:spPr>
      </p:sp>
      <p:sp>
        <p:nvSpPr>
          <p:cNvPr id="11" name="Text 9"/>
          <p:cNvSpPr txBox="1"/>
          <p:nvPr/>
        </p:nvSpPr>
        <p:spPr>
          <a:xfrm>
            <a:off x="6492240" y="34930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7095744" y="3456432"/>
            <a:ext cx="45171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Is this a capacity problem?</a:t>
            </a:r>
            <a:endParaRPr lang="en-US" sz="1300" dirty="0"/>
          </a:p>
        </p:txBody>
      </p:sp>
      <p:sp>
        <p:nvSpPr>
          <p:cNvPr id="13" name="Text 11"/>
          <p:cNvSpPr txBox="1"/>
          <p:nvPr/>
        </p:nvSpPr>
        <p:spPr>
          <a:xfrm>
            <a:off x="7095744" y="3749040"/>
            <a:ext cx="4517136" cy="402336"/>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Do we need more agents, or is the existing team under-used?</a:t>
            </a:r>
            <a:endParaRPr lang="en-US" sz="1150" dirty="0"/>
          </a:p>
        </p:txBody>
      </p:sp>
      <p:sp>
        <p:nvSpPr>
          <p:cNvPr id="14" name="Shape 12"/>
          <p:cNvSpPr/>
          <p:nvPr/>
        </p:nvSpPr>
        <p:spPr>
          <a:xfrm>
            <a:off x="6492240" y="4206240"/>
            <a:ext cx="420624" cy="420624"/>
          </a:xfrm>
          <a:prstGeom prst="ellipse">
            <a:avLst/>
          </a:prstGeom>
          <a:solidFill>
            <a:srgbClr val="1E2761"/>
          </a:solidFill>
          <a:ln/>
        </p:spPr>
      </p:sp>
      <p:sp>
        <p:nvSpPr>
          <p:cNvPr id="15" name="Text 13"/>
          <p:cNvSpPr txBox="1"/>
          <p:nvPr/>
        </p:nvSpPr>
        <p:spPr>
          <a:xfrm>
            <a:off x="6492240" y="42062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7095744" y="4169664"/>
            <a:ext cx="45171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Where is the time actually lost?</a:t>
            </a:r>
            <a:endParaRPr lang="en-US" sz="1300" dirty="0"/>
          </a:p>
        </p:txBody>
      </p:sp>
      <p:sp>
        <p:nvSpPr>
          <p:cNvPr id="17" name="Text 15"/>
          <p:cNvSpPr txBox="1"/>
          <p:nvPr/>
        </p:nvSpPr>
        <p:spPr>
          <a:xfrm>
            <a:off x="7095744" y="4462272"/>
            <a:ext cx="4517136" cy="402336"/>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Severity, priority, or request category — which really drives delay?</a:t>
            </a:r>
            <a:endParaRPr lang="en-US" sz="1150" dirty="0"/>
          </a:p>
        </p:txBody>
      </p:sp>
      <p:sp>
        <p:nvSpPr>
          <p:cNvPr id="18" name="Shape 16"/>
          <p:cNvSpPr/>
          <p:nvPr/>
        </p:nvSpPr>
        <p:spPr>
          <a:xfrm>
            <a:off x="6492240" y="4919472"/>
            <a:ext cx="420624" cy="420624"/>
          </a:xfrm>
          <a:prstGeom prst="ellipse">
            <a:avLst/>
          </a:prstGeom>
          <a:solidFill>
            <a:srgbClr val="1E2761"/>
          </a:solidFill>
          <a:ln/>
        </p:spPr>
      </p:sp>
      <p:sp>
        <p:nvSpPr>
          <p:cNvPr id="19" name="Text 17"/>
          <p:cNvSpPr txBox="1"/>
          <p:nvPr/>
        </p:nvSpPr>
        <p:spPr>
          <a:xfrm>
            <a:off x="6492240" y="49194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7095744" y="4882896"/>
            <a:ext cx="45171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Who needs support, and who should mentor?</a:t>
            </a:r>
            <a:endParaRPr lang="en-US" sz="1300" dirty="0"/>
          </a:p>
        </p:txBody>
      </p:sp>
      <p:sp>
        <p:nvSpPr>
          <p:cNvPr id="21" name="Text 19"/>
          <p:cNvSpPr txBox="1"/>
          <p:nvPr/>
        </p:nvSpPr>
        <p:spPr>
          <a:xfrm>
            <a:off x="7095744" y="5175504"/>
            <a:ext cx="4517136" cy="402336"/>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Which agents underperform once workload is held constant?</a:t>
            </a:r>
            <a:endParaRPr lang="en-US" sz="1150" dirty="0"/>
          </a:p>
        </p:txBody>
      </p:sp>
      <p:sp>
        <p:nvSpPr>
          <p:cNvPr id="22" name="Shape 20"/>
          <p:cNvSpPr/>
          <p:nvPr/>
        </p:nvSpPr>
        <p:spPr>
          <a:xfrm>
            <a:off x="6492240" y="5632704"/>
            <a:ext cx="420624" cy="420624"/>
          </a:xfrm>
          <a:prstGeom prst="ellipse">
            <a:avLst/>
          </a:prstGeom>
          <a:solidFill>
            <a:srgbClr val="E8833A"/>
          </a:solidFill>
          <a:ln/>
        </p:spPr>
      </p:sp>
      <p:sp>
        <p:nvSpPr>
          <p:cNvPr id="23" name="Text 21"/>
          <p:cNvSpPr txBox="1"/>
          <p:nvPr/>
        </p:nvSpPr>
        <p:spPr>
          <a:xfrm>
            <a:off x="6492240" y="56327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7095744" y="5596128"/>
            <a:ext cx="45171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Where should the next rupee go?</a:t>
            </a:r>
            <a:endParaRPr lang="en-US" sz="1300" dirty="0"/>
          </a:p>
        </p:txBody>
      </p:sp>
      <p:sp>
        <p:nvSpPr>
          <p:cNvPr id="25" name="Text 23"/>
          <p:cNvSpPr txBox="1"/>
          <p:nvPr/>
        </p:nvSpPr>
        <p:spPr>
          <a:xfrm>
            <a:off x="7095744" y="5888736"/>
            <a:ext cx="4517136" cy="402336"/>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Hire, train, or upgrade the ticket management software?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3</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Introduction and Objectives</a:t>
            </a:r>
            <a:endParaRPr lang="en-US" sz="3200" dirty="0"/>
          </a:p>
        </p:txBody>
      </p:sp>
      <p:sp>
        <p:nvSpPr>
          <p:cNvPr id="4" name="Shape 2"/>
          <p:cNvSpPr/>
          <p:nvPr/>
        </p:nvSpPr>
        <p:spPr>
          <a:xfrm>
            <a:off x="566928" y="1325880"/>
            <a:ext cx="6583680" cy="1051560"/>
          </a:xfrm>
          <a:prstGeom prst="roundRect">
            <a:avLst>
              <a:gd name="adj" fmla="val 5217"/>
            </a:avLst>
          </a:prstGeom>
          <a:solidFill>
            <a:srgbClr val="FDF1E7"/>
          </a:solidFill>
          <a:ln/>
        </p:spPr>
      </p:sp>
      <p:sp>
        <p:nvSpPr>
          <p:cNvPr id="5" name="Text 3"/>
          <p:cNvSpPr txBox="1"/>
          <p:nvPr/>
        </p:nvSpPr>
        <p:spPr>
          <a:xfrm>
            <a:off x="795528" y="1444752"/>
            <a:ext cx="6126480" cy="822960"/>
          </a:xfrm>
          <a:prstGeom prst="rect">
            <a:avLst/>
          </a:prstGeom>
          <a:noFill/>
          <a:ln/>
        </p:spPr>
        <p:txBody>
          <a:bodyPr wrap="square" lIns="0" tIns="0" rIns="0" bIns="0" rtlCol="0" anchor="ctr"/>
          <a:lstStyle/>
          <a:p>
            <a:pPr marL="0" indent="0">
              <a:buNone/>
            </a:pPr>
            <a:r>
              <a:rPr lang="en-US" sz="1500" b="1" i="1" dirty="0">
                <a:solidFill>
                  <a:srgbClr val="E8833A"/>
                </a:solidFill>
                <a:latin typeface="Calibri" pitchFamily="34" charset="0"/>
                <a:ea typeface="Calibri" pitchFamily="34" charset="-122"/>
                <a:cs typeface="Calibri" pitchFamily="34" charset="-120"/>
              </a:rPr>
              <a:t>Every single day for five years, this organisation logged 53 new IT tickets — and the daily rate is still climbing.</a:t>
            </a:r>
            <a:endParaRPr lang="en-US" sz="1500" dirty="0"/>
          </a:p>
        </p:txBody>
      </p:sp>
      <p:sp>
        <p:nvSpPr>
          <p:cNvPr id="6" name="Text 4"/>
          <p:cNvSpPr txBox="1"/>
          <p:nvPr/>
        </p:nvSpPr>
        <p:spPr>
          <a:xfrm>
            <a:off x="566928" y="2542032"/>
            <a:ext cx="6583680" cy="1005840"/>
          </a:xfrm>
          <a:prstGeom prst="rect">
            <a:avLst/>
          </a:prstGeom>
          <a:noFill/>
          <a:ln/>
        </p:spPr>
        <p:txBody>
          <a:bodyPr wrap="square" lIns="0" tIns="0" rIns="0" bIns="0" rtlCol="0" anchor="ctr"/>
          <a:lstStyle/>
          <a:p>
            <a:pPr marL="0" indent="0">
              <a:lnSpc>
                <a:spcPts val="2200"/>
              </a:lnSpc>
              <a:buNone/>
            </a:pPr>
            <a:r>
              <a:rPr lang="en-US" sz="1400" dirty="0">
                <a:solidFill>
                  <a:srgbClr val="1A1A1A"/>
                </a:solidFill>
                <a:latin typeface="Calibri" pitchFamily="34" charset="0"/>
                <a:ea typeface="Calibri" pitchFamily="34" charset="-122"/>
                <a:cs typeface="Calibri" pitchFamily="34" charset="-120"/>
              </a:rPr>
              <a:t>The IT support function handles every technical issue and service request raised inside the business. Five years of its ticket history was analysed to understand how well it performs, where it loses time, and what management should fund next.</a:t>
            </a:r>
            <a:endParaRPr lang="en-US" sz="1400" dirty="0"/>
          </a:p>
        </p:txBody>
      </p:sp>
      <p:sp>
        <p:nvSpPr>
          <p:cNvPr id="7" name="Text 5"/>
          <p:cNvSpPr txBox="1"/>
          <p:nvPr/>
        </p:nvSpPr>
        <p:spPr>
          <a:xfrm>
            <a:off x="566928" y="3639312"/>
            <a:ext cx="6583680" cy="31089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What this project sets out to achieve</a:t>
            </a:r>
            <a:endParaRPr lang="en-US" sz="1300" dirty="0"/>
          </a:p>
        </p:txBody>
      </p:sp>
      <p:sp>
        <p:nvSpPr>
          <p:cNvPr id="8" name="Shape 6"/>
          <p:cNvSpPr/>
          <p:nvPr/>
        </p:nvSpPr>
        <p:spPr>
          <a:xfrm>
            <a:off x="566928" y="4023360"/>
            <a:ext cx="420624" cy="420624"/>
          </a:xfrm>
          <a:prstGeom prst="ellipse">
            <a:avLst/>
          </a:prstGeom>
          <a:solidFill>
            <a:srgbClr val="1E2761"/>
          </a:solidFill>
          <a:ln/>
        </p:spPr>
      </p:sp>
      <p:sp>
        <p:nvSpPr>
          <p:cNvPr id="9" name="Text 7"/>
          <p:cNvSpPr txBox="1"/>
          <p:nvPr/>
        </p:nvSpPr>
        <p:spPr>
          <a:xfrm>
            <a:off x="566928" y="40233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170432" y="3986784"/>
            <a:ext cx="5980176"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Measure agent performance</a:t>
            </a:r>
            <a:endParaRPr lang="en-US" sz="1400" dirty="0"/>
          </a:p>
        </p:txBody>
      </p:sp>
      <p:sp>
        <p:nvSpPr>
          <p:cNvPr id="11" name="Text 9"/>
          <p:cNvSpPr txBox="1"/>
          <p:nvPr/>
        </p:nvSpPr>
        <p:spPr>
          <a:xfrm>
            <a:off x="1170432" y="4279392"/>
            <a:ext cx="5980176" cy="36576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Identify the strongest and weakest performers on comparable workloads</a:t>
            </a:r>
            <a:endParaRPr lang="en-US" sz="1200" dirty="0"/>
          </a:p>
        </p:txBody>
      </p:sp>
      <p:sp>
        <p:nvSpPr>
          <p:cNvPr id="12" name="Shape 10"/>
          <p:cNvSpPr/>
          <p:nvPr/>
        </p:nvSpPr>
        <p:spPr>
          <a:xfrm>
            <a:off x="566928" y="4700016"/>
            <a:ext cx="420624" cy="420624"/>
          </a:xfrm>
          <a:prstGeom prst="ellipse">
            <a:avLst/>
          </a:prstGeom>
          <a:solidFill>
            <a:srgbClr val="1E2761"/>
          </a:solidFill>
          <a:ln/>
        </p:spPr>
      </p:sp>
      <p:sp>
        <p:nvSpPr>
          <p:cNvPr id="13" name="Text 11"/>
          <p:cNvSpPr txBox="1"/>
          <p:nvPr/>
        </p:nvSpPr>
        <p:spPr>
          <a:xfrm>
            <a:off x="566928" y="470001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170432" y="4663440"/>
            <a:ext cx="5980176"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Assess resolution efficiency</a:t>
            </a:r>
            <a:endParaRPr lang="en-US" sz="1400" dirty="0"/>
          </a:p>
        </p:txBody>
      </p:sp>
      <p:sp>
        <p:nvSpPr>
          <p:cNvPr id="15" name="Text 13"/>
          <p:cNvSpPr txBox="1"/>
          <p:nvPr/>
        </p:nvSpPr>
        <p:spPr>
          <a:xfrm>
            <a:off x="1170432" y="4956048"/>
            <a:ext cx="5980176" cy="36576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Find where time is lost and which factors actually drive delay</a:t>
            </a:r>
            <a:endParaRPr lang="en-US" sz="1200" dirty="0"/>
          </a:p>
        </p:txBody>
      </p:sp>
      <p:sp>
        <p:nvSpPr>
          <p:cNvPr id="16" name="Shape 14"/>
          <p:cNvSpPr/>
          <p:nvPr/>
        </p:nvSpPr>
        <p:spPr>
          <a:xfrm>
            <a:off x="566928" y="5376672"/>
            <a:ext cx="420624" cy="420624"/>
          </a:xfrm>
          <a:prstGeom prst="ellipse">
            <a:avLst/>
          </a:prstGeom>
          <a:solidFill>
            <a:srgbClr val="1E2761"/>
          </a:solidFill>
          <a:ln/>
        </p:spPr>
      </p:sp>
      <p:sp>
        <p:nvSpPr>
          <p:cNvPr id="17" name="Text 15"/>
          <p:cNvSpPr txBox="1"/>
          <p:nvPr/>
        </p:nvSpPr>
        <p:spPr>
          <a:xfrm>
            <a:off x="566928" y="53766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170432" y="5340096"/>
            <a:ext cx="5980176"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Understand employee satisfaction</a:t>
            </a:r>
            <a:endParaRPr lang="en-US" sz="1400" dirty="0"/>
          </a:p>
        </p:txBody>
      </p:sp>
      <p:sp>
        <p:nvSpPr>
          <p:cNvPr id="19" name="Text 17"/>
          <p:cNvSpPr txBox="1"/>
          <p:nvPr/>
        </p:nvSpPr>
        <p:spPr>
          <a:xfrm>
            <a:off x="1170432" y="5632704"/>
            <a:ext cx="5980176" cy="36576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Establish what moves the satisfaction score, and what does not</a:t>
            </a:r>
            <a:endParaRPr lang="en-US" sz="1200" dirty="0"/>
          </a:p>
        </p:txBody>
      </p:sp>
      <p:sp>
        <p:nvSpPr>
          <p:cNvPr id="20" name="Shape 18"/>
          <p:cNvSpPr/>
          <p:nvPr/>
        </p:nvSpPr>
        <p:spPr>
          <a:xfrm>
            <a:off x="566928" y="6053328"/>
            <a:ext cx="420624" cy="420624"/>
          </a:xfrm>
          <a:prstGeom prst="ellipse">
            <a:avLst/>
          </a:prstGeom>
          <a:solidFill>
            <a:srgbClr val="1E2761"/>
          </a:solidFill>
          <a:ln/>
        </p:spPr>
      </p:sp>
      <p:sp>
        <p:nvSpPr>
          <p:cNvPr id="21" name="Text 19"/>
          <p:cNvSpPr txBox="1"/>
          <p:nvPr/>
        </p:nvSpPr>
        <p:spPr>
          <a:xfrm>
            <a:off x="566928" y="605332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170432" y="6016752"/>
            <a:ext cx="5980176"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Guide the investment decision</a:t>
            </a:r>
            <a:endParaRPr lang="en-US" sz="1400" dirty="0"/>
          </a:p>
        </p:txBody>
      </p:sp>
      <p:sp>
        <p:nvSpPr>
          <p:cNvPr id="23" name="Text 21"/>
          <p:cNvSpPr txBox="1"/>
          <p:nvPr/>
        </p:nvSpPr>
        <p:spPr>
          <a:xfrm>
            <a:off x="1170432" y="6309360"/>
            <a:ext cx="5980176" cy="36576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Hire more agents, improve training, or upgrade the software?</a:t>
            </a:r>
            <a:endParaRPr lang="en-US" sz="1200" dirty="0"/>
          </a:p>
        </p:txBody>
      </p:sp>
      <p:sp>
        <p:nvSpPr>
          <p:cNvPr id="24" name="Shape 22"/>
          <p:cNvSpPr/>
          <p:nvPr/>
        </p:nvSpPr>
        <p:spPr>
          <a:xfrm>
            <a:off x="7498080" y="1325880"/>
            <a:ext cx="2011680" cy="1335024"/>
          </a:xfrm>
          <a:prstGeom prst="roundRect">
            <a:avLst>
              <a:gd name="adj" fmla="val 4110"/>
            </a:avLst>
          </a:prstGeom>
          <a:solidFill>
            <a:srgbClr val="F4F7FB"/>
          </a:solidFill>
          <a:ln/>
        </p:spPr>
      </p:sp>
      <p:sp>
        <p:nvSpPr>
          <p:cNvPr id="25" name="Text 23"/>
          <p:cNvSpPr txBox="1"/>
          <p:nvPr/>
        </p:nvSpPr>
        <p:spPr>
          <a:xfrm>
            <a:off x="7498080" y="1435608"/>
            <a:ext cx="2011680" cy="658368"/>
          </a:xfrm>
          <a:prstGeom prst="rect">
            <a:avLst/>
          </a:prstGeom>
          <a:noFill/>
          <a:ln/>
        </p:spPr>
        <p:txBody>
          <a:bodyPr wrap="square" lIns="0" tIns="0" rIns="0" bIns="0"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97,498</a:t>
            </a:r>
            <a:endParaRPr lang="en-US" sz="3400" dirty="0"/>
          </a:p>
        </p:txBody>
      </p:sp>
      <p:sp>
        <p:nvSpPr>
          <p:cNvPr id="26" name="Text 24"/>
          <p:cNvSpPr txBox="1"/>
          <p:nvPr/>
        </p:nvSpPr>
        <p:spPr>
          <a:xfrm>
            <a:off x="7571232" y="2112264"/>
            <a:ext cx="186537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TICKETS ANALYSED</a:t>
            </a:r>
            <a:endParaRPr lang="en-US" sz="1050" dirty="0"/>
          </a:p>
        </p:txBody>
      </p:sp>
      <p:sp>
        <p:nvSpPr>
          <p:cNvPr id="27" name="Shape 25"/>
          <p:cNvSpPr/>
          <p:nvPr/>
        </p:nvSpPr>
        <p:spPr>
          <a:xfrm>
            <a:off x="9720072" y="1325880"/>
            <a:ext cx="1920240" cy="1335024"/>
          </a:xfrm>
          <a:prstGeom prst="roundRect">
            <a:avLst>
              <a:gd name="adj" fmla="val 4110"/>
            </a:avLst>
          </a:prstGeom>
          <a:solidFill>
            <a:srgbClr val="F4F7FB"/>
          </a:solidFill>
          <a:ln/>
        </p:spPr>
      </p:sp>
      <p:sp>
        <p:nvSpPr>
          <p:cNvPr id="28" name="Text 26"/>
          <p:cNvSpPr txBox="1"/>
          <p:nvPr/>
        </p:nvSpPr>
        <p:spPr>
          <a:xfrm>
            <a:off x="9720072" y="1435608"/>
            <a:ext cx="1920240" cy="658368"/>
          </a:xfrm>
          <a:prstGeom prst="rect">
            <a:avLst/>
          </a:prstGeom>
          <a:noFill/>
          <a:ln/>
        </p:spPr>
        <p:txBody>
          <a:bodyPr wrap="square" lIns="0" tIns="0" rIns="0" bIns="0" rtlCol="0" anchor="ctr"/>
          <a:lstStyle/>
          <a:p>
            <a:pPr marL="0" indent="0" algn="ctr">
              <a:buNone/>
            </a:pPr>
            <a:r>
              <a:rPr lang="en-US" sz="3400" b="1" dirty="0">
                <a:solidFill>
                  <a:srgbClr val="1E2761"/>
                </a:solidFill>
                <a:latin typeface="Cambria" pitchFamily="34" charset="0"/>
                <a:ea typeface="Cambria" pitchFamily="34" charset="-122"/>
                <a:cs typeface="Cambria" pitchFamily="34" charset="-120"/>
              </a:rPr>
              <a:t>50</a:t>
            </a:r>
            <a:endParaRPr lang="en-US" sz="3400" dirty="0"/>
          </a:p>
        </p:txBody>
      </p:sp>
      <p:sp>
        <p:nvSpPr>
          <p:cNvPr id="29" name="Text 27"/>
          <p:cNvSpPr txBox="1"/>
          <p:nvPr/>
        </p:nvSpPr>
        <p:spPr>
          <a:xfrm>
            <a:off x="9793224" y="2112264"/>
            <a:ext cx="177393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IT AGENTS</a:t>
            </a:r>
            <a:endParaRPr lang="en-US" sz="1050" dirty="0"/>
          </a:p>
        </p:txBody>
      </p:sp>
      <p:sp>
        <p:nvSpPr>
          <p:cNvPr id="30" name="Shape 28"/>
          <p:cNvSpPr/>
          <p:nvPr/>
        </p:nvSpPr>
        <p:spPr>
          <a:xfrm>
            <a:off x="7498080" y="2862072"/>
            <a:ext cx="2011680" cy="1335024"/>
          </a:xfrm>
          <a:prstGeom prst="roundRect">
            <a:avLst>
              <a:gd name="adj" fmla="val 4110"/>
            </a:avLst>
          </a:prstGeom>
          <a:solidFill>
            <a:srgbClr val="F4F7FB"/>
          </a:solidFill>
          <a:ln/>
        </p:spPr>
      </p:sp>
      <p:sp>
        <p:nvSpPr>
          <p:cNvPr id="31" name="Text 29"/>
          <p:cNvSpPr txBox="1"/>
          <p:nvPr/>
        </p:nvSpPr>
        <p:spPr>
          <a:xfrm>
            <a:off x="7498080" y="2971800"/>
            <a:ext cx="2011680" cy="658368"/>
          </a:xfrm>
          <a:prstGeom prst="rect">
            <a:avLst/>
          </a:prstGeom>
          <a:noFill/>
          <a:ln/>
        </p:spPr>
        <p:txBody>
          <a:bodyPr wrap="square" lIns="0" tIns="0" rIns="0" bIns="0" rtlCol="0" anchor="ctr"/>
          <a:lstStyle/>
          <a:p>
            <a:pPr marL="0" indent="0" algn="ctr">
              <a:buNone/>
            </a:pPr>
            <a:r>
              <a:rPr lang="en-US" sz="3400" b="1" dirty="0">
                <a:solidFill>
                  <a:srgbClr val="2E6FB8"/>
                </a:solidFill>
                <a:latin typeface="Cambria" pitchFamily="34" charset="0"/>
                <a:ea typeface="Cambria" pitchFamily="34" charset="-122"/>
                <a:cs typeface="Cambria" pitchFamily="34" charset="-120"/>
              </a:rPr>
              <a:t>5</a:t>
            </a:r>
            <a:endParaRPr lang="en-US" sz="3400" dirty="0"/>
          </a:p>
        </p:txBody>
      </p:sp>
      <p:sp>
        <p:nvSpPr>
          <p:cNvPr id="32" name="Text 30"/>
          <p:cNvSpPr txBox="1"/>
          <p:nvPr/>
        </p:nvSpPr>
        <p:spPr>
          <a:xfrm>
            <a:off x="7571232" y="3648456"/>
            <a:ext cx="186537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YEARS OF HISTORY</a:t>
            </a:r>
            <a:endParaRPr lang="en-US" sz="1050" dirty="0"/>
          </a:p>
        </p:txBody>
      </p:sp>
      <p:sp>
        <p:nvSpPr>
          <p:cNvPr id="33" name="Shape 31"/>
          <p:cNvSpPr/>
          <p:nvPr/>
        </p:nvSpPr>
        <p:spPr>
          <a:xfrm>
            <a:off x="9720072" y="2862072"/>
            <a:ext cx="1920240" cy="1335024"/>
          </a:xfrm>
          <a:prstGeom prst="roundRect">
            <a:avLst>
              <a:gd name="adj" fmla="val 4110"/>
            </a:avLst>
          </a:prstGeom>
          <a:solidFill>
            <a:srgbClr val="F4F7FB"/>
          </a:solidFill>
          <a:ln/>
        </p:spPr>
      </p:sp>
      <p:sp>
        <p:nvSpPr>
          <p:cNvPr id="34" name="Text 32"/>
          <p:cNvSpPr txBox="1"/>
          <p:nvPr/>
        </p:nvSpPr>
        <p:spPr>
          <a:xfrm>
            <a:off x="9720072" y="2971800"/>
            <a:ext cx="1920240" cy="658368"/>
          </a:xfrm>
          <a:prstGeom prst="rect">
            <a:avLst/>
          </a:prstGeom>
          <a:noFill/>
          <a:ln/>
        </p:spPr>
        <p:txBody>
          <a:bodyPr wrap="square" lIns="0" tIns="0" rIns="0" bIns="0" rtlCol="0" anchor="ctr"/>
          <a:lstStyle/>
          <a:p>
            <a:pPr marL="0" indent="0" algn="ctr">
              <a:buNone/>
            </a:pPr>
            <a:r>
              <a:rPr lang="en-US" sz="3400" b="1" dirty="0">
                <a:solidFill>
                  <a:srgbClr val="2E6FB8"/>
                </a:solidFill>
                <a:latin typeface="Cambria" pitchFamily="34" charset="0"/>
                <a:ea typeface="Cambria" pitchFamily="34" charset="-122"/>
                <a:cs typeface="Cambria" pitchFamily="34" charset="-120"/>
              </a:rPr>
              <a:t>16</a:t>
            </a:r>
            <a:endParaRPr lang="en-US" sz="3400" dirty="0"/>
          </a:p>
        </p:txBody>
      </p:sp>
      <p:sp>
        <p:nvSpPr>
          <p:cNvPr id="35" name="Text 33"/>
          <p:cNvSpPr txBox="1"/>
          <p:nvPr/>
        </p:nvSpPr>
        <p:spPr>
          <a:xfrm>
            <a:off x="9793224" y="3648456"/>
            <a:ext cx="177393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ATTRIBUTES</a:t>
            </a:r>
            <a:endParaRPr lang="en-US" sz="1050" dirty="0"/>
          </a:p>
        </p:txBody>
      </p:sp>
      <p:sp>
        <p:nvSpPr>
          <p:cNvPr id="36" name="Text 34"/>
          <p:cNvSpPr txBox="1"/>
          <p:nvPr/>
        </p:nvSpPr>
        <p:spPr>
          <a:xfrm>
            <a:off x="7498080" y="4443984"/>
            <a:ext cx="414223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The decision on the table:</a:t>
            </a:r>
            <a:endParaRPr lang="en-US" sz="1250" dirty="0"/>
          </a:p>
        </p:txBody>
      </p:sp>
      <p:sp>
        <p:nvSpPr>
          <p:cNvPr id="37" name="Text 35"/>
          <p:cNvSpPr txBox="1"/>
          <p:nvPr/>
        </p:nvSpPr>
        <p:spPr>
          <a:xfrm>
            <a:off x="7498080" y="4754880"/>
            <a:ext cx="4142232" cy="12801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Hire more IT agents?</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Improve training programmes?</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Upgrade the ticket management software?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4</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Data Overview</a:t>
            </a:r>
            <a:endParaRPr lang="en-US" sz="3200" dirty="0"/>
          </a:p>
        </p:txBody>
      </p:sp>
      <p:sp>
        <p:nvSpPr>
          <p:cNvPr id="4" name="Text 2"/>
          <p:cNvSpPr txBox="1"/>
          <p:nvPr/>
        </p:nvSpPr>
        <p:spPr>
          <a:xfrm>
            <a:off x="566928" y="1188720"/>
            <a:ext cx="10881360" cy="36576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Two source sheets, 16 attributes, a complete gap-free daily history</a:t>
            </a:r>
            <a:endParaRPr lang="en-US" sz="1400" dirty="0"/>
          </a:p>
        </p:txBody>
      </p:sp>
      <p:sp>
        <p:nvSpPr>
          <p:cNvPr id="5" name="Shape 3"/>
          <p:cNvSpPr/>
          <p:nvPr/>
        </p:nvSpPr>
        <p:spPr>
          <a:xfrm>
            <a:off x="566928" y="1664208"/>
            <a:ext cx="5486400" cy="4114800"/>
          </a:xfrm>
          <a:prstGeom prst="roundRect">
            <a:avLst>
              <a:gd name="adj" fmla="val 1333"/>
            </a:avLst>
          </a:prstGeom>
          <a:solidFill>
            <a:srgbClr val="F4F7FB"/>
          </a:solidFill>
          <a:ln/>
        </p:spPr>
      </p:sp>
      <p:sp>
        <p:nvSpPr>
          <p:cNvPr id="6" name="Text 4"/>
          <p:cNvSpPr txBox="1"/>
          <p:nvPr/>
        </p:nvSpPr>
        <p:spPr>
          <a:xfrm>
            <a:off x="795528" y="1828800"/>
            <a:ext cx="5029200" cy="310896"/>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the dataset contains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95528" y="2194560"/>
          <a:ext cx="5029200" cy="914400"/>
        </p:xfrm>
        <a:graphic>
          <a:graphicData uri="http://schemas.openxmlformats.org/drawingml/2006/table">
            <a:tbl>
              <a:tblPr/>
              <a:tblGrid>
                <a:gridCol w="5029200">
                  <a:extLst>
                    <a:ext uri="{9D8B030D-6E8A-4147-A177-3AD203B41FA5}">
                      <a16:colId xmlns:a16="http://schemas.microsoft.com/office/drawing/2014/main" val="20000"/>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Tickets sheet (10 attributes)</a:t>
                      </a:r>
                      <a:endParaRPr lang="en-US" sz="1150" dirty="0">
                        <a:latin typeface="Calibri" charset="0"/>
                        <a:ea typeface="Calibri" charset="0"/>
                        <a:cs typeface="Calibri" charset="0"/>
                      </a:endParaRPr>
                    </a:p>
                  </a:txBody>
                  <a:tcPr anchor="ctr">
                    <a:lnL w="12700" cap="flat" cmpd="sng" algn="ctr">
                      <a:solidFill>
                        <a:srgbClr val="E6E9F0"/>
                      </a:solidFill>
                      <a:prstDash val="solid"/>
                      <a:round/>
                      <a:headEnd type="none" w="med" len="med"/>
                      <a:tailEnd type="none" w="med" len="med"/>
                    </a:lnL>
                    <a:lnR w="12700" cap="flat" cmpd="sng" algn="ctr">
                      <a:solidFill>
                        <a:srgbClr val="E6E9F0"/>
                      </a:solidFill>
                      <a:prstDash val="solid"/>
                      <a:round/>
                      <a:headEnd type="none" w="med" len="med"/>
                      <a:tailEnd type="none" w="med" len="med"/>
                    </a:lnR>
                    <a:lnT w="12700" cap="flat" cmpd="sng" algn="ctr">
                      <a:solidFill>
                        <a:srgbClr val="E6E9F0"/>
                      </a:solidFill>
                      <a:prstDash val="solid"/>
                      <a:round/>
                      <a:headEnd type="none" w="med" len="med"/>
                      <a:tailEnd type="none" w="med" len="med"/>
                    </a:lnT>
                    <a:lnB w="12700" cap="flat" cmpd="sng" algn="ctr">
                      <a:solidFill>
                        <a:srgbClr val="E6E9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0896">
                <a:tc>
                  <a:txBody>
                    <a:bodyPr/>
                    <a:lstStyle/>
                    <a:p>
                      <a:pPr marL="0" indent="0">
                        <a:buNone/>
                      </a:pPr>
                      <a:r>
                        <a:rPr lang="en-US" sz="1150" dirty="0">
                          <a:solidFill>
                            <a:srgbClr val="6B7280"/>
                          </a:solidFill>
                          <a:latin typeface="Calibri" pitchFamily="34" charset="0"/>
                          <a:ea typeface="Calibri" pitchFamily="34" charset="-122"/>
                          <a:cs typeface="Calibri" pitchFamily="34" charset="-120"/>
                        </a:rPr>
                        <a:t>ID Ticket · Fecha · Employee ID · Agent ID · Request Category · Issue Type · Severity · Priority · Resolution Time (Days) · Satisfaction Rate</a:t>
                      </a:r>
                      <a:endParaRPr lang="en-US" sz="1150" dirty="0">
                        <a:latin typeface="Calibri" charset="0"/>
                        <a:ea typeface="Calibri" charset="0"/>
                        <a:cs typeface="Calibri" charset="0"/>
                      </a:endParaRPr>
                    </a:p>
                  </a:txBody>
                  <a:tcPr anchor="ctr">
                    <a:lnL w="12700" cap="flat" cmpd="sng" algn="ctr">
                      <a:solidFill>
                        <a:srgbClr val="E6E9F0"/>
                      </a:solidFill>
                      <a:prstDash val="solid"/>
                      <a:round/>
                      <a:headEnd type="none" w="med" len="med"/>
                      <a:tailEnd type="none" w="med" len="med"/>
                    </a:lnL>
                    <a:lnR w="12700" cap="flat" cmpd="sng" algn="ctr">
                      <a:solidFill>
                        <a:srgbClr val="E6E9F0"/>
                      </a:solidFill>
                      <a:prstDash val="solid"/>
                      <a:round/>
                      <a:headEnd type="none" w="med" len="med"/>
                      <a:tailEnd type="none" w="med" len="med"/>
                    </a:lnR>
                    <a:lnT w="12700" cap="flat" cmpd="sng" algn="ctr">
                      <a:solidFill>
                        <a:srgbClr val="E6E9F0"/>
                      </a:solidFill>
                      <a:prstDash val="solid"/>
                      <a:round/>
                      <a:headEnd type="none" w="med" len="med"/>
                      <a:tailEnd type="none" w="med" len="med"/>
                    </a:lnT>
                    <a:lnB w="12700" cap="flat" cmpd="sng" algn="ctr">
                      <a:solidFill>
                        <a:srgbClr val="E6E9F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 Agents sheet (6 attributes)</a:t>
                      </a:r>
                      <a:endParaRPr lang="en-US" sz="1150" dirty="0">
                        <a:latin typeface="Calibri" charset="0"/>
                        <a:ea typeface="Calibri" charset="0"/>
                        <a:cs typeface="Calibri" charset="0"/>
                      </a:endParaRPr>
                    </a:p>
                  </a:txBody>
                  <a:tcPr anchor="ctr">
                    <a:lnL w="12700" cap="flat" cmpd="sng" algn="ctr">
                      <a:solidFill>
                        <a:srgbClr val="E6E9F0"/>
                      </a:solidFill>
                      <a:prstDash val="solid"/>
                      <a:round/>
                      <a:headEnd type="none" w="med" len="med"/>
                      <a:tailEnd type="none" w="med" len="med"/>
                    </a:lnL>
                    <a:lnR w="12700" cap="flat" cmpd="sng" algn="ctr">
                      <a:solidFill>
                        <a:srgbClr val="E6E9F0"/>
                      </a:solidFill>
                      <a:prstDash val="solid"/>
                      <a:round/>
                      <a:headEnd type="none" w="med" len="med"/>
                      <a:tailEnd type="none" w="med" len="med"/>
                    </a:lnR>
                    <a:lnT w="12700" cap="flat" cmpd="sng" algn="ctr">
                      <a:solidFill>
                        <a:srgbClr val="E6E9F0"/>
                      </a:solidFill>
                      <a:prstDash val="solid"/>
                      <a:round/>
                      <a:headEnd type="none" w="med" len="med"/>
                      <a:tailEnd type="none" w="med" len="med"/>
                    </a:lnT>
                    <a:lnB w="12700" cap="flat" cmpd="sng" algn="ctr">
                      <a:solidFill>
                        <a:srgbClr val="E6E9F0"/>
                      </a:solidFill>
                      <a:prstDash val="solid"/>
                      <a:round/>
                      <a:headEnd type="none" w="med" len="med"/>
                      <a:tailEnd type="none" w="med" len="med"/>
                    </a:lnB>
                    <a:solidFill>
                      <a:srgbClr val="1E2761"/>
                    </a:solidFill>
                  </a:tcPr>
                </a:tc>
                <a:extLst>
                  <a:ext uri="{0D108BD9-81ED-4DB2-BD59-A6C34878D82A}">
                    <a16:rowId xmlns:a16="http://schemas.microsoft.com/office/drawing/2014/main" val="10002"/>
                  </a:ext>
                </a:extLst>
              </a:tr>
              <a:tr h="310896">
                <a:tc>
                  <a:txBody>
                    <a:bodyPr/>
                    <a:lstStyle/>
                    <a:p>
                      <a:pPr marL="0" indent="0">
                        <a:buNone/>
                      </a:pPr>
                      <a:r>
                        <a:rPr lang="en-US" sz="1150" dirty="0">
                          <a:solidFill>
                            <a:srgbClr val="6B7280"/>
                          </a:solidFill>
                          <a:latin typeface="Calibri" pitchFamily="34" charset="0"/>
                          <a:ea typeface="Calibri" pitchFamily="34" charset="-122"/>
                          <a:cs typeface="Calibri" pitchFamily="34" charset="-120"/>
                        </a:rPr>
                        <a:t>Agent ID · Full Name · Email · Year of Birth · Month of Birth · Day of Birth</a:t>
                      </a:r>
                      <a:endParaRPr lang="en-US" sz="1150" dirty="0">
                        <a:latin typeface="Calibri" charset="0"/>
                        <a:ea typeface="Calibri" charset="0"/>
                        <a:cs typeface="Calibri" charset="0"/>
                      </a:endParaRPr>
                    </a:p>
                  </a:txBody>
                  <a:tcPr anchor="ctr">
                    <a:lnL w="12700" cap="flat" cmpd="sng" algn="ctr">
                      <a:solidFill>
                        <a:srgbClr val="E6E9F0"/>
                      </a:solidFill>
                      <a:prstDash val="solid"/>
                      <a:round/>
                      <a:headEnd type="none" w="med" len="med"/>
                      <a:tailEnd type="none" w="med" len="med"/>
                    </a:lnL>
                    <a:lnR w="12700" cap="flat" cmpd="sng" algn="ctr">
                      <a:solidFill>
                        <a:srgbClr val="E6E9F0"/>
                      </a:solidFill>
                      <a:prstDash val="solid"/>
                      <a:round/>
                      <a:headEnd type="none" w="med" len="med"/>
                      <a:tailEnd type="none" w="med" len="med"/>
                    </a:lnR>
                    <a:lnT w="12700" cap="flat" cmpd="sng" algn="ctr">
                      <a:solidFill>
                        <a:srgbClr val="E6E9F0"/>
                      </a:solidFill>
                      <a:prstDash val="solid"/>
                      <a:round/>
                      <a:headEnd type="none" w="med" len="med"/>
                      <a:tailEnd type="none" w="med" len="med"/>
                    </a:lnT>
                    <a:lnB w="12700" cap="flat" cmpd="sng" algn="ctr">
                      <a:solidFill>
                        <a:srgbClr val="E6E9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txBox="1"/>
          <p:nvPr/>
        </p:nvSpPr>
        <p:spPr>
          <a:xfrm>
            <a:off x="795528" y="4114800"/>
            <a:ext cx="5029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Coverage</a:t>
            </a:r>
            <a:endParaRPr lang="en-US" sz="1300" dirty="0"/>
          </a:p>
        </p:txBody>
      </p:sp>
      <p:sp>
        <p:nvSpPr>
          <p:cNvPr id="9" name="Text 6"/>
          <p:cNvSpPr txBox="1"/>
          <p:nvPr/>
        </p:nvSpPr>
        <p:spPr>
          <a:xfrm>
            <a:off x="841248" y="4425696"/>
            <a:ext cx="4937760" cy="11887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01-Jan-2016 to 31-Dec-2020 — 1,827 consecutive days</a:t>
            </a:r>
            <a:endParaRPr lang="en-US" sz="1200" dirty="0"/>
          </a:p>
          <a:p>
            <a:pPr marL="342900" indent="-342900">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4 request categories, 2 issue types, 5 severities, 4 priorities</a:t>
            </a:r>
            <a:endParaRPr lang="en-US" sz="1200" dirty="0"/>
          </a:p>
          <a:p>
            <a:pPr marL="342900" indent="-342900">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Satisfaction captured on a 1–5 scale for every ticket</a:t>
            </a:r>
            <a:endParaRPr lang="en-US" sz="1200" dirty="0"/>
          </a:p>
        </p:txBody>
      </p:sp>
      <p:sp>
        <p:nvSpPr>
          <p:cNvPr id="10" name="Shape 7"/>
          <p:cNvSpPr/>
          <p:nvPr/>
        </p:nvSpPr>
        <p:spPr>
          <a:xfrm>
            <a:off x="6291072" y="1664208"/>
            <a:ext cx="5349240" cy="4114800"/>
          </a:xfrm>
          <a:prstGeom prst="roundRect">
            <a:avLst>
              <a:gd name="adj" fmla="val 1333"/>
            </a:avLst>
          </a:prstGeom>
          <a:solidFill>
            <a:srgbClr val="FDF1E7"/>
          </a:solidFill>
          <a:ln/>
        </p:spPr>
      </p:sp>
      <p:sp>
        <p:nvSpPr>
          <p:cNvPr id="11" name="Text 8"/>
          <p:cNvSpPr txBox="1"/>
          <p:nvPr/>
        </p:nvSpPr>
        <p:spPr>
          <a:xfrm>
            <a:off x="6519672" y="1828800"/>
            <a:ext cx="4892040" cy="310896"/>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Data cleaning and preprocessing</a:t>
            </a:r>
            <a:endParaRPr lang="en-US" sz="1400" dirty="0"/>
          </a:p>
        </p:txBody>
      </p:sp>
      <p:sp>
        <p:nvSpPr>
          <p:cNvPr id="12" name="Text 9"/>
          <p:cNvSpPr txBox="1"/>
          <p:nvPr/>
        </p:nvSpPr>
        <p:spPr>
          <a:xfrm>
            <a:off x="6519672" y="2157984"/>
            <a:ext cx="4892040" cy="45720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No missing values and no duplicates anywhere — the problems were subtler, and all would have skewed the analysis.</a:t>
            </a:r>
            <a:endParaRPr lang="en-US" sz="1150" dirty="0"/>
          </a:p>
        </p:txBody>
      </p:sp>
      <p:sp>
        <p:nvSpPr>
          <p:cNvPr id="13" name="Shape 10"/>
          <p:cNvSpPr/>
          <p:nvPr/>
        </p:nvSpPr>
        <p:spPr>
          <a:xfrm>
            <a:off x="6519672" y="2688336"/>
            <a:ext cx="420624" cy="420624"/>
          </a:xfrm>
          <a:prstGeom prst="ellipse">
            <a:avLst/>
          </a:prstGeom>
          <a:solidFill>
            <a:srgbClr val="C0392B"/>
          </a:solidFill>
          <a:ln/>
        </p:spPr>
      </p:sp>
      <p:sp>
        <p:nvSpPr>
          <p:cNvPr id="14" name="Text 11"/>
          <p:cNvSpPr txBox="1"/>
          <p:nvPr/>
        </p:nvSpPr>
        <p:spPr>
          <a:xfrm>
            <a:off x="6519672" y="26883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7123176" y="2651760"/>
            <a:ext cx="42885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Spelling errors — 34,602 records</a:t>
            </a:r>
            <a:endParaRPr lang="en-US" sz="1300" dirty="0"/>
          </a:p>
        </p:txBody>
      </p:sp>
      <p:sp>
        <p:nvSpPr>
          <p:cNvPr id="16" name="Text 13"/>
          <p:cNvSpPr txBox="1"/>
          <p:nvPr/>
        </p:nvSpPr>
        <p:spPr>
          <a:xfrm>
            <a:off x="7123176" y="2944368"/>
            <a:ext cx="4288536" cy="694944"/>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“3 - Mayor”, “0 - Unclasified”, “0 - Unassiged” corrected in Severity and Priority</a:t>
            </a:r>
            <a:endParaRPr lang="en-US" sz="1150" dirty="0"/>
          </a:p>
        </p:txBody>
      </p:sp>
      <p:sp>
        <p:nvSpPr>
          <p:cNvPr id="17" name="Shape 14"/>
          <p:cNvSpPr/>
          <p:nvPr/>
        </p:nvSpPr>
        <p:spPr>
          <a:xfrm>
            <a:off x="6519672" y="3694176"/>
            <a:ext cx="420624" cy="420624"/>
          </a:xfrm>
          <a:prstGeom prst="ellipse">
            <a:avLst/>
          </a:prstGeom>
          <a:solidFill>
            <a:srgbClr val="E8833A"/>
          </a:solidFill>
          <a:ln/>
        </p:spPr>
      </p:sp>
      <p:sp>
        <p:nvSpPr>
          <p:cNvPr id="18" name="Text 15"/>
          <p:cNvSpPr txBox="1"/>
          <p:nvPr/>
        </p:nvSpPr>
        <p:spPr>
          <a:xfrm>
            <a:off x="6519672" y="36941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9" name="Text 16"/>
          <p:cNvSpPr txBox="1"/>
          <p:nvPr/>
        </p:nvSpPr>
        <p:spPr>
          <a:xfrm>
            <a:off x="7123176" y="3657600"/>
            <a:ext cx="42885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Malformed agent names</a:t>
            </a:r>
            <a:endParaRPr lang="en-US" sz="1300" dirty="0"/>
          </a:p>
        </p:txBody>
      </p:sp>
      <p:sp>
        <p:nvSpPr>
          <p:cNvPr id="20" name="Text 17"/>
          <p:cNvSpPr txBox="1"/>
          <p:nvPr/>
        </p:nvSpPr>
        <p:spPr>
          <a:xfrm>
            <a:off x="7123176" y="3950208"/>
            <a:ext cx="4288536" cy="694944"/>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7 incomplete (A. Trejo, Javier D., Lorena…) and 7 reversed — rebuilt from the email address</a:t>
            </a:r>
            <a:endParaRPr lang="en-US" sz="1150" dirty="0"/>
          </a:p>
        </p:txBody>
      </p:sp>
      <p:sp>
        <p:nvSpPr>
          <p:cNvPr id="21" name="Shape 18"/>
          <p:cNvSpPr/>
          <p:nvPr/>
        </p:nvSpPr>
        <p:spPr>
          <a:xfrm>
            <a:off x="6519672" y="4700016"/>
            <a:ext cx="420624" cy="420624"/>
          </a:xfrm>
          <a:prstGeom prst="ellipse">
            <a:avLst/>
          </a:prstGeom>
          <a:solidFill>
            <a:srgbClr val="2C7A4B"/>
          </a:solidFill>
          <a:ln/>
        </p:spPr>
      </p:sp>
      <p:sp>
        <p:nvSpPr>
          <p:cNvPr id="22" name="Text 19"/>
          <p:cNvSpPr txBox="1"/>
          <p:nvPr/>
        </p:nvSpPr>
        <p:spPr>
          <a:xfrm>
            <a:off x="6519672" y="470001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a:t>
            </a:r>
            <a:endParaRPr lang="en-US" sz="1500" dirty="0"/>
          </a:p>
        </p:txBody>
      </p:sp>
      <p:sp>
        <p:nvSpPr>
          <p:cNvPr id="23" name="Text 20"/>
          <p:cNvSpPr txBox="1"/>
          <p:nvPr/>
        </p:nvSpPr>
        <p:spPr>
          <a:xfrm>
            <a:off x="7123176" y="4663440"/>
            <a:ext cx="4288536"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Blanks, duplicates, orphan IDs</a:t>
            </a:r>
            <a:endParaRPr lang="en-US" sz="1300" dirty="0"/>
          </a:p>
        </p:txBody>
      </p:sp>
      <p:sp>
        <p:nvSpPr>
          <p:cNvPr id="24" name="Text 21"/>
          <p:cNvSpPr txBox="1"/>
          <p:nvPr/>
        </p:nvSpPr>
        <p:spPr>
          <a:xfrm>
            <a:off x="7123176" y="4956048"/>
            <a:ext cx="4288536" cy="694944"/>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Verified with COUNTBLANK, COUNTIF and a referential-integrity check</a:t>
            </a:r>
            <a:endParaRPr lang="en-US" sz="1150" dirty="0"/>
          </a:p>
        </p:txBody>
      </p:sp>
      <p:sp>
        <p:nvSpPr>
          <p:cNvPr id="25" name="Text 22"/>
          <p:cNvSpPr txBox="1"/>
          <p:nvPr/>
        </p:nvSpPr>
        <p:spPr>
          <a:xfrm>
            <a:off x="6519672" y="5212080"/>
            <a:ext cx="4892040" cy="45720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Why it matters: the agent-name column contains no blanks, so a standard null check passes it clean. Every name was rebuilt before any agent-level comparison was made.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5</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Methodology</a:t>
            </a:r>
            <a:endParaRPr lang="en-US" sz="3200" dirty="0"/>
          </a:p>
        </p:txBody>
      </p:sp>
      <p:sp>
        <p:nvSpPr>
          <p:cNvPr id="4" name="Text 2"/>
          <p:cNvSpPr txBox="1"/>
          <p:nvPr/>
        </p:nvSpPr>
        <p:spPr>
          <a:xfrm>
            <a:off x="566928" y="1188720"/>
            <a:ext cx="10881360" cy="36576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Built entirely in Excel — cleaned tables, pivot analysis, and an interactive dashboard</a:t>
            </a:r>
            <a:endParaRPr lang="en-US" sz="1400" dirty="0"/>
          </a:p>
        </p:txBody>
      </p:sp>
      <p:sp>
        <p:nvSpPr>
          <p:cNvPr id="5" name="Shape 3"/>
          <p:cNvSpPr/>
          <p:nvPr/>
        </p:nvSpPr>
        <p:spPr>
          <a:xfrm>
            <a:off x="566928" y="1700784"/>
            <a:ext cx="420624" cy="420624"/>
          </a:xfrm>
          <a:prstGeom prst="ellipse">
            <a:avLst/>
          </a:prstGeom>
          <a:solidFill>
            <a:srgbClr val="1E2761"/>
          </a:solidFill>
          <a:ln/>
        </p:spPr>
      </p:sp>
      <p:sp>
        <p:nvSpPr>
          <p:cNvPr id="6" name="Text 4"/>
          <p:cNvSpPr txBox="1"/>
          <p:nvPr/>
        </p:nvSpPr>
        <p:spPr>
          <a:xfrm>
            <a:off x="566928" y="170078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70432" y="1664208"/>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Data cleaning</a:t>
            </a:r>
            <a:endParaRPr lang="en-US" sz="1350" dirty="0"/>
          </a:p>
        </p:txBody>
      </p:sp>
      <p:sp>
        <p:nvSpPr>
          <p:cNvPr id="8" name="Text 6"/>
          <p:cNvSpPr txBox="1"/>
          <p:nvPr/>
        </p:nvSpPr>
        <p:spPr>
          <a:xfrm>
            <a:off x="1170432" y="1956816"/>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COUNTIF, COUNTBLANK, SUBSTITUTE, TRIM and PROPER to correct labels and rebuild names</a:t>
            </a:r>
            <a:endParaRPr lang="en-US" sz="1200" dirty="0"/>
          </a:p>
        </p:txBody>
      </p:sp>
      <p:sp>
        <p:nvSpPr>
          <p:cNvPr id="9" name="Shape 7"/>
          <p:cNvSpPr/>
          <p:nvPr/>
        </p:nvSpPr>
        <p:spPr>
          <a:xfrm>
            <a:off x="566928" y="2414016"/>
            <a:ext cx="420624" cy="420624"/>
          </a:xfrm>
          <a:prstGeom prst="ellipse">
            <a:avLst/>
          </a:prstGeom>
          <a:solidFill>
            <a:srgbClr val="1E2761"/>
          </a:solidFill>
          <a:ln/>
        </p:spPr>
      </p:sp>
      <p:sp>
        <p:nvSpPr>
          <p:cNvPr id="10" name="Text 8"/>
          <p:cNvSpPr txBox="1"/>
          <p:nvPr/>
        </p:nvSpPr>
        <p:spPr>
          <a:xfrm>
            <a:off x="566928" y="241401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70432" y="2377440"/>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Data enrichment</a:t>
            </a:r>
            <a:endParaRPr lang="en-US" sz="1350" dirty="0"/>
          </a:p>
        </p:txBody>
      </p:sp>
      <p:sp>
        <p:nvSpPr>
          <p:cNvPr id="12" name="Text 10"/>
          <p:cNvSpPr txBox="1"/>
          <p:nvPr/>
        </p:nvSpPr>
        <p:spPr>
          <a:xfrm>
            <a:off x="1170432" y="2670048"/>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VLOOKUP to join agents to tickets; MID with FIND to extract email domains</a:t>
            </a:r>
            <a:endParaRPr lang="en-US" sz="1200" dirty="0"/>
          </a:p>
        </p:txBody>
      </p:sp>
      <p:sp>
        <p:nvSpPr>
          <p:cNvPr id="13" name="Shape 11"/>
          <p:cNvSpPr/>
          <p:nvPr/>
        </p:nvSpPr>
        <p:spPr>
          <a:xfrm>
            <a:off x="566928" y="3127248"/>
            <a:ext cx="420624" cy="420624"/>
          </a:xfrm>
          <a:prstGeom prst="ellipse">
            <a:avLst/>
          </a:prstGeom>
          <a:solidFill>
            <a:srgbClr val="2E6FB8"/>
          </a:solidFill>
          <a:ln/>
        </p:spPr>
      </p:sp>
      <p:sp>
        <p:nvSpPr>
          <p:cNvPr id="14" name="Text 12"/>
          <p:cNvSpPr txBox="1"/>
          <p:nvPr/>
        </p:nvSpPr>
        <p:spPr>
          <a:xfrm>
            <a:off x="566928" y="31272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70432" y="3090672"/>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Derived features</a:t>
            </a:r>
            <a:endParaRPr lang="en-US" sz="1350" dirty="0"/>
          </a:p>
        </p:txBody>
      </p:sp>
      <p:sp>
        <p:nvSpPr>
          <p:cNvPr id="16" name="Text 14"/>
          <p:cNvSpPr txBox="1"/>
          <p:nvPr/>
        </p:nvSpPr>
        <p:spPr>
          <a:xfrm>
            <a:off x="1170432" y="3383280"/>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DATE and DATEDIF for agent age and seniority bands; resolution-speed buckets</a:t>
            </a:r>
            <a:endParaRPr lang="en-US" sz="1200" dirty="0"/>
          </a:p>
        </p:txBody>
      </p:sp>
      <p:sp>
        <p:nvSpPr>
          <p:cNvPr id="17" name="Shape 15"/>
          <p:cNvSpPr/>
          <p:nvPr/>
        </p:nvSpPr>
        <p:spPr>
          <a:xfrm>
            <a:off x="566928" y="3840480"/>
            <a:ext cx="420624" cy="420624"/>
          </a:xfrm>
          <a:prstGeom prst="ellipse">
            <a:avLst/>
          </a:prstGeom>
          <a:solidFill>
            <a:srgbClr val="E8833A"/>
          </a:solidFill>
          <a:ln/>
        </p:spPr>
      </p:sp>
      <p:sp>
        <p:nvSpPr>
          <p:cNvPr id="18" name="Text 16"/>
          <p:cNvSpPr txBox="1"/>
          <p:nvPr/>
        </p:nvSpPr>
        <p:spPr>
          <a:xfrm>
            <a:off x="566928" y="38404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170432" y="3803904"/>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Statistical testing</a:t>
            </a:r>
            <a:endParaRPr lang="en-US" sz="1350" dirty="0"/>
          </a:p>
        </p:txBody>
      </p:sp>
      <p:sp>
        <p:nvSpPr>
          <p:cNvPr id="20" name="Text 18"/>
          <p:cNvSpPr txBox="1"/>
          <p:nvPr/>
        </p:nvSpPr>
        <p:spPr>
          <a:xfrm>
            <a:off x="1170432" y="4096512"/>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CORREL to test whether severity genuinely drives resolution time</a:t>
            </a:r>
            <a:endParaRPr lang="en-US" sz="1200" dirty="0"/>
          </a:p>
        </p:txBody>
      </p:sp>
      <p:sp>
        <p:nvSpPr>
          <p:cNvPr id="21" name="Shape 19"/>
          <p:cNvSpPr/>
          <p:nvPr/>
        </p:nvSpPr>
        <p:spPr>
          <a:xfrm>
            <a:off x="566928" y="4553712"/>
            <a:ext cx="420624" cy="420624"/>
          </a:xfrm>
          <a:prstGeom prst="ellipse">
            <a:avLst/>
          </a:prstGeom>
          <a:solidFill>
            <a:srgbClr val="2E6FB8"/>
          </a:solidFill>
          <a:ln/>
        </p:spPr>
      </p:sp>
      <p:sp>
        <p:nvSpPr>
          <p:cNvPr id="22" name="Text 20"/>
          <p:cNvSpPr txBox="1"/>
          <p:nvPr/>
        </p:nvSpPr>
        <p:spPr>
          <a:xfrm>
            <a:off x="566928" y="455371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170432" y="4517136"/>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Summarisation</a:t>
            </a:r>
            <a:endParaRPr lang="en-US" sz="1350" dirty="0"/>
          </a:p>
        </p:txBody>
      </p:sp>
      <p:sp>
        <p:nvSpPr>
          <p:cNvPr id="24" name="Text 22"/>
          <p:cNvSpPr txBox="1"/>
          <p:nvPr/>
        </p:nvSpPr>
        <p:spPr>
          <a:xfrm>
            <a:off x="1170432" y="4809744"/>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Pivot tables on a single shared cache, one sheet per question</a:t>
            </a:r>
            <a:endParaRPr lang="en-US" sz="1200" dirty="0"/>
          </a:p>
        </p:txBody>
      </p:sp>
      <p:sp>
        <p:nvSpPr>
          <p:cNvPr id="25" name="Shape 23"/>
          <p:cNvSpPr/>
          <p:nvPr/>
        </p:nvSpPr>
        <p:spPr>
          <a:xfrm>
            <a:off x="566928" y="5266944"/>
            <a:ext cx="420624" cy="420624"/>
          </a:xfrm>
          <a:prstGeom prst="ellipse">
            <a:avLst/>
          </a:prstGeom>
          <a:solidFill>
            <a:srgbClr val="2C7A4B"/>
          </a:solidFill>
          <a:ln/>
        </p:spPr>
      </p:sp>
      <p:sp>
        <p:nvSpPr>
          <p:cNvPr id="26" name="Text 24"/>
          <p:cNvSpPr txBox="1"/>
          <p:nvPr/>
        </p:nvSpPr>
        <p:spPr>
          <a:xfrm>
            <a:off x="566928" y="526694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1170432" y="5230368"/>
            <a:ext cx="6345936" cy="292608"/>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Visualisation &amp; interactivity</a:t>
            </a:r>
            <a:endParaRPr lang="en-US" sz="1350" dirty="0"/>
          </a:p>
        </p:txBody>
      </p:sp>
      <p:sp>
        <p:nvSpPr>
          <p:cNvPr id="28" name="Text 26"/>
          <p:cNvSpPr txBox="1"/>
          <p:nvPr/>
        </p:nvSpPr>
        <p:spPr>
          <a:xfrm>
            <a:off x="1170432" y="5522976"/>
            <a:ext cx="6345936" cy="402336"/>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Charts plus slicers on Year, Request Category and Priority</a:t>
            </a:r>
            <a:endParaRPr lang="en-US" sz="1200" dirty="0"/>
          </a:p>
        </p:txBody>
      </p:sp>
      <p:sp>
        <p:nvSpPr>
          <p:cNvPr id="29" name="Shape 27"/>
          <p:cNvSpPr/>
          <p:nvPr/>
        </p:nvSpPr>
        <p:spPr>
          <a:xfrm>
            <a:off x="7818120" y="1700784"/>
            <a:ext cx="3822192" cy="3931920"/>
          </a:xfrm>
          <a:prstGeom prst="roundRect">
            <a:avLst>
              <a:gd name="adj" fmla="val 1435"/>
            </a:avLst>
          </a:prstGeom>
          <a:solidFill>
            <a:srgbClr val="F4F7FB"/>
          </a:solidFill>
          <a:ln/>
        </p:spPr>
      </p:sp>
      <p:sp>
        <p:nvSpPr>
          <p:cNvPr id="30" name="Text 28"/>
          <p:cNvSpPr txBox="1"/>
          <p:nvPr/>
        </p:nvSpPr>
        <p:spPr>
          <a:xfrm>
            <a:off x="8046720" y="1883664"/>
            <a:ext cx="3364992" cy="310896"/>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was built</a:t>
            </a:r>
            <a:endParaRPr lang="en-US" sz="1400" dirty="0"/>
          </a:p>
        </p:txBody>
      </p:sp>
      <p:sp>
        <p:nvSpPr>
          <p:cNvPr id="31" name="Text 29"/>
          <p:cNvSpPr txBox="1"/>
          <p:nvPr/>
        </p:nvSpPr>
        <p:spPr>
          <a:xfrm>
            <a:off x="8046720" y="2304288"/>
            <a:ext cx="914400" cy="548640"/>
          </a:xfrm>
          <a:prstGeom prst="rect">
            <a:avLst/>
          </a:prstGeom>
          <a:noFill/>
          <a:ln/>
        </p:spPr>
        <p:txBody>
          <a:bodyPr wrap="square" lIns="0" tIns="0" rIns="0" bIns="0" rtlCol="0" anchor="ctr"/>
          <a:lstStyle/>
          <a:p>
            <a:pPr marL="0" indent="0" algn="r">
              <a:buNone/>
            </a:pPr>
            <a:r>
              <a:rPr lang="en-US" sz="2600" b="1" dirty="0">
                <a:solidFill>
                  <a:srgbClr val="1E2761"/>
                </a:solidFill>
                <a:latin typeface="Cambria" pitchFamily="34" charset="0"/>
                <a:ea typeface="Cambria" pitchFamily="34" charset="-122"/>
                <a:cs typeface="Cambria" pitchFamily="34" charset="-120"/>
              </a:rPr>
              <a:t>22</a:t>
            </a:r>
            <a:endParaRPr lang="en-US" sz="2600" dirty="0"/>
          </a:p>
        </p:txBody>
      </p:sp>
      <p:sp>
        <p:nvSpPr>
          <p:cNvPr id="32" name="Text 30"/>
          <p:cNvSpPr txBox="1"/>
          <p:nvPr/>
        </p:nvSpPr>
        <p:spPr>
          <a:xfrm>
            <a:off x="9098280" y="2304288"/>
            <a:ext cx="2286000" cy="5486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worksheets</a:t>
            </a:r>
            <a:endParaRPr lang="en-US" sz="1300" dirty="0"/>
          </a:p>
        </p:txBody>
      </p:sp>
      <p:sp>
        <p:nvSpPr>
          <p:cNvPr id="33" name="Text 31"/>
          <p:cNvSpPr txBox="1"/>
          <p:nvPr/>
        </p:nvSpPr>
        <p:spPr>
          <a:xfrm>
            <a:off x="8046720" y="3081528"/>
            <a:ext cx="914400" cy="548640"/>
          </a:xfrm>
          <a:prstGeom prst="rect">
            <a:avLst/>
          </a:prstGeom>
          <a:noFill/>
          <a:ln/>
        </p:spPr>
        <p:txBody>
          <a:bodyPr wrap="square" lIns="0" tIns="0" rIns="0" bIns="0" rtlCol="0" anchor="ctr"/>
          <a:lstStyle/>
          <a:p>
            <a:pPr marL="0" indent="0" algn="r">
              <a:buNone/>
            </a:pPr>
            <a:r>
              <a:rPr lang="en-US" sz="2600" b="1" dirty="0">
                <a:solidFill>
                  <a:srgbClr val="1E2761"/>
                </a:solidFill>
                <a:latin typeface="Cambria" pitchFamily="34" charset="0"/>
                <a:ea typeface="Cambria" pitchFamily="34" charset="-122"/>
                <a:cs typeface="Cambria" pitchFamily="34" charset="-120"/>
              </a:rPr>
              <a:t>28</a:t>
            </a:r>
            <a:endParaRPr lang="en-US" sz="2600" dirty="0"/>
          </a:p>
        </p:txBody>
      </p:sp>
      <p:sp>
        <p:nvSpPr>
          <p:cNvPr id="34" name="Text 32"/>
          <p:cNvSpPr txBox="1"/>
          <p:nvPr/>
        </p:nvSpPr>
        <p:spPr>
          <a:xfrm>
            <a:off x="9098280" y="3081528"/>
            <a:ext cx="2286000" cy="5486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pivot tables</a:t>
            </a:r>
            <a:endParaRPr lang="en-US" sz="1300" dirty="0"/>
          </a:p>
        </p:txBody>
      </p:sp>
      <p:sp>
        <p:nvSpPr>
          <p:cNvPr id="35" name="Text 33"/>
          <p:cNvSpPr txBox="1"/>
          <p:nvPr/>
        </p:nvSpPr>
        <p:spPr>
          <a:xfrm>
            <a:off x="8046720" y="3858768"/>
            <a:ext cx="914400" cy="548640"/>
          </a:xfrm>
          <a:prstGeom prst="rect">
            <a:avLst/>
          </a:prstGeom>
          <a:noFill/>
          <a:ln/>
        </p:spPr>
        <p:txBody>
          <a:bodyPr wrap="square" lIns="0" tIns="0" rIns="0" bIns="0" rtlCol="0" anchor="ctr"/>
          <a:lstStyle/>
          <a:p>
            <a:pPr marL="0" indent="0" algn="r">
              <a:buNone/>
            </a:pPr>
            <a:r>
              <a:rPr lang="en-US" sz="2600" b="1" dirty="0">
                <a:solidFill>
                  <a:srgbClr val="2E6FB8"/>
                </a:solidFill>
                <a:latin typeface="Cambria" pitchFamily="34" charset="0"/>
                <a:ea typeface="Cambria" pitchFamily="34" charset="-122"/>
                <a:cs typeface="Cambria" pitchFamily="34" charset="-120"/>
              </a:rPr>
              <a:t>27</a:t>
            </a:r>
            <a:endParaRPr lang="en-US" sz="2600" dirty="0"/>
          </a:p>
        </p:txBody>
      </p:sp>
      <p:sp>
        <p:nvSpPr>
          <p:cNvPr id="36" name="Text 34"/>
          <p:cNvSpPr txBox="1"/>
          <p:nvPr/>
        </p:nvSpPr>
        <p:spPr>
          <a:xfrm>
            <a:off x="9098280" y="3858768"/>
            <a:ext cx="2286000" cy="5486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charts</a:t>
            </a:r>
            <a:endParaRPr lang="en-US" sz="1300" dirty="0"/>
          </a:p>
        </p:txBody>
      </p:sp>
      <p:sp>
        <p:nvSpPr>
          <p:cNvPr id="37" name="Text 35"/>
          <p:cNvSpPr txBox="1"/>
          <p:nvPr/>
        </p:nvSpPr>
        <p:spPr>
          <a:xfrm>
            <a:off x="8046720" y="4636008"/>
            <a:ext cx="914400" cy="548640"/>
          </a:xfrm>
          <a:prstGeom prst="rect">
            <a:avLst/>
          </a:prstGeom>
          <a:noFill/>
          <a:ln/>
        </p:spPr>
        <p:txBody>
          <a:bodyPr wrap="square" lIns="0" tIns="0" rIns="0" bIns="0" rtlCol="0" anchor="ctr"/>
          <a:lstStyle/>
          <a:p>
            <a:pPr marL="0" indent="0" algn="r">
              <a:buNone/>
            </a:pPr>
            <a:r>
              <a:rPr lang="en-US" sz="2600" b="1" dirty="0">
                <a:solidFill>
                  <a:srgbClr val="2E6FB8"/>
                </a:solidFill>
                <a:latin typeface="Cambria" pitchFamily="34" charset="0"/>
                <a:ea typeface="Cambria" pitchFamily="34" charset="-122"/>
                <a:cs typeface="Cambria" pitchFamily="34" charset="-120"/>
              </a:rPr>
              <a:t>3</a:t>
            </a:r>
            <a:endParaRPr lang="en-US" sz="2600" dirty="0"/>
          </a:p>
        </p:txBody>
      </p:sp>
      <p:sp>
        <p:nvSpPr>
          <p:cNvPr id="38" name="Text 36"/>
          <p:cNvSpPr txBox="1"/>
          <p:nvPr/>
        </p:nvSpPr>
        <p:spPr>
          <a:xfrm>
            <a:off x="9098280" y="4636008"/>
            <a:ext cx="2286000" cy="5486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linked slicers</a:t>
            </a:r>
            <a:endParaRPr lang="en-US" sz="1300" dirty="0"/>
          </a:p>
        </p:txBody>
      </p:sp>
      <p:sp>
        <p:nvSpPr>
          <p:cNvPr id="39" name="Text 37"/>
          <p:cNvSpPr txBox="1"/>
          <p:nvPr/>
        </p:nvSpPr>
        <p:spPr>
          <a:xfrm>
            <a:off x="566928" y="5943600"/>
            <a:ext cx="10881360" cy="45720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One sheet per question, so every figure quoted in this deck can be traced back to its own pivot table.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6  ·  OBJECTIVE ANALYSIS</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Demand has more than doubled in five years</a:t>
            </a:r>
            <a:endParaRPr lang="en-US" sz="3200" dirty="0"/>
          </a:p>
        </p:txBody>
      </p:sp>
      <p:graphicFrame>
        <p:nvGraphicFramePr>
          <p:cNvPr id="4" name="Chart 0"/>
          <p:cNvGraphicFramePr/>
          <p:nvPr/>
        </p:nvGraphicFramePr>
        <p:xfrm>
          <a:off x="566928" y="1463040"/>
          <a:ext cx="6858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572768"/>
            <a:ext cx="3959352" cy="1591056"/>
          </a:xfrm>
          <a:prstGeom prst="roundRect">
            <a:avLst>
              <a:gd name="adj" fmla="val 3448"/>
            </a:avLst>
          </a:prstGeom>
          <a:solidFill>
            <a:srgbClr val="F4F7FB"/>
          </a:solidFill>
          <a:ln/>
        </p:spPr>
      </p:sp>
      <p:sp>
        <p:nvSpPr>
          <p:cNvPr id="6" name="Text 3"/>
          <p:cNvSpPr txBox="1"/>
          <p:nvPr/>
        </p:nvSpPr>
        <p:spPr>
          <a:xfrm>
            <a:off x="7680960" y="1682496"/>
            <a:ext cx="3959352" cy="658368"/>
          </a:xfrm>
          <a:prstGeom prst="rect">
            <a:avLst/>
          </a:prstGeom>
          <a:noFill/>
          <a:ln/>
        </p:spPr>
        <p:txBody>
          <a:bodyPr wrap="square" lIns="0" tIns="0" rIns="0" bIns="0" rtlCol="0" anchor="ctr"/>
          <a:lstStyle/>
          <a:p>
            <a:pPr marL="0" indent="0" algn="ctr">
              <a:buNone/>
            </a:pPr>
            <a:r>
              <a:rPr lang="en-US" sz="3400" b="1" dirty="0">
                <a:solidFill>
                  <a:srgbClr val="E8833A"/>
                </a:solidFill>
                <a:latin typeface="Cambria" pitchFamily="34" charset="0"/>
                <a:ea typeface="Cambria" pitchFamily="34" charset="-122"/>
                <a:cs typeface="Cambria" pitchFamily="34" charset="-120"/>
              </a:rPr>
              <a:t>+122.9%</a:t>
            </a:r>
            <a:endParaRPr lang="en-US" sz="3400" dirty="0"/>
          </a:p>
        </p:txBody>
      </p:sp>
      <p:sp>
        <p:nvSpPr>
          <p:cNvPr id="7" name="Text 4"/>
          <p:cNvSpPr txBox="1"/>
          <p:nvPr/>
        </p:nvSpPr>
        <p:spPr>
          <a:xfrm>
            <a:off x="7754112" y="2359152"/>
            <a:ext cx="3813048"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TICKET GROWTH 2016 → 2020</a:t>
            </a:r>
            <a:endParaRPr lang="en-US" sz="1050" dirty="0"/>
          </a:p>
        </p:txBody>
      </p:sp>
      <p:sp>
        <p:nvSpPr>
          <p:cNvPr id="8" name="Text 5"/>
          <p:cNvSpPr txBox="1"/>
          <p:nvPr/>
        </p:nvSpPr>
        <p:spPr>
          <a:xfrm>
            <a:off x="7754112" y="2706624"/>
            <a:ext cx="3813048" cy="384048"/>
          </a:xfrm>
          <a:prstGeom prst="rect">
            <a:avLst/>
          </a:prstGeom>
          <a:noFill/>
          <a:ln/>
        </p:spPr>
        <p:txBody>
          <a:bodyPr wrap="square" lIns="0" tIns="0" rIns="0" bIns="0" rtlCol="0" anchor="t"/>
          <a:lstStyle/>
          <a:p>
            <a:pPr marL="0" indent="0" algn="ctr">
              <a:buNone/>
            </a:pPr>
            <a:r>
              <a:rPr lang="en-US" sz="950" i="1" dirty="0">
                <a:solidFill>
                  <a:srgbClr val="E8833A"/>
                </a:solidFill>
                <a:latin typeface="Calibri" pitchFamily="34" charset="0"/>
                <a:ea typeface="Calibri" pitchFamily="34" charset="-122"/>
                <a:cs typeface="Calibri" pitchFamily="34" charset="-120"/>
              </a:rPr>
              <a:t>13,051 rising to 29,088 a year</a:t>
            </a:r>
            <a:endParaRPr lang="en-US" sz="950" dirty="0"/>
          </a:p>
        </p:txBody>
      </p:sp>
      <p:sp>
        <p:nvSpPr>
          <p:cNvPr id="9" name="Text 6"/>
          <p:cNvSpPr txBox="1"/>
          <p:nvPr/>
        </p:nvSpPr>
        <p:spPr>
          <a:xfrm>
            <a:off x="7680960" y="3401568"/>
            <a:ext cx="3959352"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Key takeaways</a:t>
            </a:r>
            <a:endParaRPr lang="en-US" sz="1350" dirty="0"/>
          </a:p>
        </p:txBody>
      </p:sp>
      <p:sp>
        <p:nvSpPr>
          <p:cNvPr id="10" name="Text 7"/>
          <p:cNvSpPr txBox="1"/>
          <p:nvPr/>
        </p:nvSpPr>
        <p:spPr>
          <a:xfrm>
            <a:off x="7680960" y="3730752"/>
            <a:ext cx="3959352"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Every single year is higher than the one before — no year of decline.</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2020 accelerated hardest at +35.4% on 2019.</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December 2020 is the busiest month on record.</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Average daily volume is 53 tickets across 1,827 days.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This is structural growth, not a seasonal spike — whatever we fund has to scale.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7  ·  OBJECTIVE ANALYSIS</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Category — not severity — decides how long a ticket takes</a:t>
            </a:r>
            <a:endParaRPr lang="en-US" sz="3200" dirty="0"/>
          </a:p>
        </p:txBody>
      </p:sp>
      <p:graphicFrame>
        <p:nvGraphicFramePr>
          <p:cNvPr id="4" name="Chart 0"/>
          <p:cNvGraphicFramePr/>
          <p:nvPr/>
        </p:nvGraphicFramePr>
        <p:xfrm>
          <a:off x="566928" y="1517904"/>
          <a:ext cx="52578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66928" y="5376672"/>
            <a:ext cx="525780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Ticket volume by category</a:t>
            </a:r>
            <a:endParaRPr lang="en-US" sz="1100" dirty="0"/>
          </a:p>
        </p:txBody>
      </p:sp>
      <p:graphicFrame>
        <p:nvGraphicFramePr>
          <p:cNvPr id="6" name="Chart 1"/>
          <p:cNvGraphicFramePr/>
          <p:nvPr/>
        </p:nvGraphicFramePr>
        <p:xfrm>
          <a:off x="6035040" y="1517904"/>
          <a:ext cx="306324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6035040" y="5376672"/>
            <a:ext cx="306324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Avg resolution time (days)</a:t>
            </a:r>
            <a:endParaRPr lang="en-US" sz="1100" dirty="0"/>
          </a:p>
        </p:txBody>
      </p:sp>
      <p:sp>
        <p:nvSpPr>
          <p:cNvPr id="8" name="Shape 4"/>
          <p:cNvSpPr/>
          <p:nvPr/>
        </p:nvSpPr>
        <p:spPr>
          <a:xfrm>
            <a:off x="9326880" y="1572768"/>
            <a:ext cx="2313432" cy="1591056"/>
          </a:xfrm>
          <a:prstGeom prst="roundRect">
            <a:avLst>
              <a:gd name="adj" fmla="val 3448"/>
            </a:avLst>
          </a:prstGeom>
          <a:solidFill>
            <a:srgbClr val="F4F7FB"/>
          </a:solidFill>
          <a:ln/>
        </p:spPr>
      </p:sp>
      <p:sp>
        <p:nvSpPr>
          <p:cNvPr id="9" name="Text 5"/>
          <p:cNvSpPr txBox="1"/>
          <p:nvPr/>
        </p:nvSpPr>
        <p:spPr>
          <a:xfrm>
            <a:off x="9326880" y="1682496"/>
            <a:ext cx="2313432" cy="658368"/>
          </a:xfrm>
          <a:prstGeom prst="rect">
            <a:avLst/>
          </a:prstGeom>
          <a:noFill/>
          <a:ln/>
        </p:spPr>
        <p:txBody>
          <a:bodyPr wrap="square" lIns="0" tIns="0" rIns="0" bIns="0" rtlCol="0" anchor="ctr"/>
          <a:lstStyle/>
          <a:p>
            <a:pPr marL="0" indent="0" algn="ctr">
              <a:buNone/>
            </a:pPr>
            <a:r>
              <a:rPr lang="en-US" sz="3400" b="1" dirty="0">
                <a:solidFill>
                  <a:srgbClr val="C0392B"/>
                </a:solidFill>
                <a:latin typeface="Cambria" pitchFamily="34" charset="0"/>
                <a:ea typeface="Cambria" pitchFamily="34" charset="-122"/>
                <a:cs typeface="Cambria" pitchFamily="34" charset="-120"/>
              </a:rPr>
              <a:t>25×</a:t>
            </a:r>
            <a:endParaRPr lang="en-US" sz="3400" dirty="0"/>
          </a:p>
        </p:txBody>
      </p:sp>
      <p:sp>
        <p:nvSpPr>
          <p:cNvPr id="10" name="Text 6"/>
          <p:cNvSpPr txBox="1"/>
          <p:nvPr/>
        </p:nvSpPr>
        <p:spPr>
          <a:xfrm>
            <a:off x="9400032" y="2359152"/>
            <a:ext cx="2167128"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SLOWEST vs FASTEST</a:t>
            </a:r>
            <a:endParaRPr lang="en-US" sz="1050" dirty="0"/>
          </a:p>
        </p:txBody>
      </p:sp>
      <p:sp>
        <p:nvSpPr>
          <p:cNvPr id="11" name="Text 7"/>
          <p:cNvSpPr txBox="1"/>
          <p:nvPr/>
        </p:nvSpPr>
        <p:spPr>
          <a:xfrm>
            <a:off x="9400032" y="2706624"/>
            <a:ext cx="2167128" cy="384048"/>
          </a:xfrm>
          <a:prstGeom prst="rect">
            <a:avLst/>
          </a:prstGeom>
          <a:noFill/>
          <a:ln/>
        </p:spPr>
        <p:txBody>
          <a:bodyPr wrap="square" lIns="0" tIns="0" rIns="0" bIns="0" rtlCol="0" anchor="t"/>
          <a:lstStyle/>
          <a:p>
            <a:pPr marL="0" indent="0" algn="ctr">
              <a:buNone/>
            </a:pPr>
            <a:r>
              <a:rPr lang="en-US" sz="950" i="1" dirty="0">
                <a:solidFill>
                  <a:srgbClr val="C0392B"/>
                </a:solidFill>
                <a:latin typeface="Calibri" pitchFamily="34" charset="0"/>
                <a:ea typeface="Calibri" pitchFamily="34" charset="-122"/>
                <a:cs typeface="Calibri" pitchFamily="34" charset="-120"/>
              </a:rPr>
              <a:t>Hardware 7.63 d</a:t>
            </a:r>
            <a:endParaRPr lang="en-US" sz="950" dirty="0"/>
          </a:p>
          <a:p>
            <a:pPr marL="0" indent="0" algn="ctr">
              <a:buNone/>
            </a:pPr>
            <a:r>
              <a:rPr lang="en-US" sz="950" i="1" dirty="0">
                <a:solidFill>
                  <a:srgbClr val="C0392B"/>
                </a:solidFill>
                <a:latin typeface="Calibri" pitchFamily="34" charset="0"/>
                <a:ea typeface="Calibri" pitchFamily="34" charset="-122"/>
                <a:cs typeface="Calibri" pitchFamily="34" charset="-120"/>
              </a:rPr>
              <a:t>Login Access 0.31 d</a:t>
            </a:r>
            <a:endParaRPr lang="en-US" sz="950" dirty="0"/>
          </a:p>
        </p:txBody>
      </p:sp>
      <p:sp>
        <p:nvSpPr>
          <p:cNvPr id="12" name="Text 8"/>
          <p:cNvSpPr txBox="1"/>
          <p:nvPr/>
        </p:nvSpPr>
        <p:spPr>
          <a:xfrm>
            <a:off x="9326880" y="3401568"/>
            <a:ext cx="231343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takeaways</a:t>
            </a:r>
            <a:endParaRPr lang="en-US" sz="1300" dirty="0"/>
          </a:p>
        </p:txBody>
      </p:sp>
      <p:sp>
        <p:nvSpPr>
          <p:cNvPr id="13" name="Text 9"/>
          <p:cNvSpPr txBox="1"/>
          <p:nvPr/>
        </p:nvSpPr>
        <p:spPr>
          <a:xfrm>
            <a:off x="9326880" y="3712464"/>
            <a:ext cx="2313432" cy="21945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System is 40% of all volume at 6.62 days — the largest pool of recoverable delay.</a:t>
            </a:r>
            <a:endParaRPr lang="en-US" sz="1150" dirty="0"/>
          </a:p>
          <a:p>
            <a:pPr marL="342900" indent="-342900">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Login Access proves automation works: 29,193 tickets at a third of a day.</a:t>
            </a:r>
            <a:endParaRPr lang="en-US" sz="1150" dirty="0"/>
          </a:p>
          <a:p>
            <a:pPr marL="342900" indent="-342900">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Hardware is slowest but smallest — a logistics problem, not a skills one.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SLIDE 8  ·  OBJECTIVE ANALYSIS</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Triage is inverted: Urgent is fast, Normal is slowest</a:t>
            </a:r>
            <a:endParaRPr lang="en-US" sz="3200" dirty="0"/>
          </a:p>
        </p:txBody>
      </p:sp>
      <p:graphicFrame>
        <p:nvGraphicFramePr>
          <p:cNvPr id="4" name="Chart 0"/>
          <p:cNvGraphicFramePr/>
          <p:nvPr/>
        </p:nvGraphicFramePr>
        <p:xfrm>
          <a:off x="566928" y="1517904"/>
          <a:ext cx="60350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03720" y="1572768"/>
            <a:ext cx="4736592" cy="1591056"/>
          </a:xfrm>
          <a:prstGeom prst="roundRect">
            <a:avLst>
              <a:gd name="adj" fmla="val 3448"/>
            </a:avLst>
          </a:prstGeom>
          <a:solidFill>
            <a:srgbClr val="F4F7FB"/>
          </a:solidFill>
          <a:ln/>
        </p:spPr>
      </p:sp>
      <p:sp>
        <p:nvSpPr>
          <p:cNvPr id="6" name="Text 3"/>
          <p:cNvSpPr txBox="1"/>
          <p:nvPr/>
        </p:nvSpPr>
        <p:spPr>
          <a:xfrm>
            <a:off x="6903720" y="1682496"/>
            <a:ext cx="4736592" cy="658368"/>
          </a:xfrm>
          <a:prstGeom prst="rect">
            <a:avLst/>
          </a:prstGeom>
          <a:noFill/>
          <a:ln/>
        </p:spPr>
        <p:txBody>
          <a:bodyPr wrap="square" lIns="0" tIns="0" rIns="0" bIns="0" rtlCol="0" anchor="ctr"/>
          <a:lstStyle/>
          <a:p>
            <a:pPr marL="0" indent="0" algn="ctr">
              <a:buNone/>
            </a:pPr>
            <a:r>
              <a:rPr lang="en-US" sz="3400" b="1" dirty="0">
                <a:solidFill>
                  <a:srgbClr val="C0392B"/>
                </a:solidFill>
                <a:latin typeface="Cambria" pitchFamily="34" charset="0"/>
                <a:ea typeface="Cambria" pitchFamily="34" charset="-122"/>
                <a:cs typeface="Cambria" pitchFamily="34" charset="-120"/>
              </a:rPr>
              <a:t>−0.0405</a:t>
            </a:r>
            <a:endParaRPr lang="en-US" sz="3400" dirty="0"/>
          </a:p>
        </p:txBody>
      </p:sp>
      <p:sp>
        <p:nvSpPr>
          <p:cNvPr id="7" name="Text 4"/>
          <p:cNvSpPr txBox="1"/>
          <p:nvPr/>
        </p:nvSpPr>
        <p:spPr>
          <a:xfrm>
            <a:off x="6976872" y="2359152"/>
            <a:ext cx="4590288"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CORRELATION · SEVERITY vs RESOLUTION TIME</a:t>
            </a:r>
            <a:endParaRPr lang="en-US" sz="1050" dirty="0"/>
          </a:p>
        </p:txBody>
      </p:sp>
      <p:sp>
        <p:nvSpPr>
          <p:cNvPr id="8" name="Text 5"/>
          <p:cNvSpPr txBox="1"/>
          <p:nvPr/>
        </p:nvSpPr>
        <p:spPr>
          <a:xfrm>
            <a:off x="6976872" y="2706624"/>
            <a:ext cx="4590288" cy="384048"/>
          </a:xfrm>
          <a:prstGeom prst="rect">
            <a:avLst/>
          </a:prstGeom>
          <a:noFill/>
          <a:ln/>
        </p:spPr>
        <p:txBody>
          <a:bodyPr wrap="square" lIns="0" tIns="0" rIns="0" bIns="0" rtlCol="0" anchor="t"/>
          <a:lstStyle/>
          <a:p>
            <a:pPr marL="0" indent="0" algn="ctr">
              <a:buNone/>
            </a:pPr>
            <a:r>
              <a:rPr lang="en-US" sz="950" i="1" dirty="0">
                <a:solidFill>
                  <a:srgbClr val="C0392B"/>
                </a:solidFill>
                <a:latin typeface="Calibri" pitchFamily="34" charset="0"/>
                <a:ea typeface="Calibri" pitchFamily="34" charset="-122"/>
                <a:cs typeface="Calibri" pitchFamily="34" charset="-120"/>
              </a:rPr>
              <a:t>Effectively zero — severity does not drive speed</a:t>
            </a:r>
            <a:endParaRPr lang="en-US" sz="950" dirty="0"/>
          </a:p>
        </p:txBody>
      </p:sp>
      <p:sp>
        <p:nvSpPr>
          <p:cNvPr id="9" name="Text 6"/>
          <p:cNvSpPr txBox="1"/>
          <p:nvPr/>
        </p:nvSpPr>
        <p:spPr>
          <a:xfrm>
            <a:off x="6903720" y="3401568"/>
            <a:ext cx="4736592"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Key takeaways</a:t>
            </a:r>
            <a:endParaRPr lang="en-US" sz="1350" dirty="0"/>
          </a:p>
        </p:txBody>
      </p:sp>
      <p:sp>
        <p:nvSpPr>
          <p:cNvPr id="10" name="Text 7"/>
          <p:cNvSpPr txBox="1"/>
          <p:nvPr/>
        </p:nvSpPr>
        <p:spPr>
          <a:xfrm>
            <a:off x="6903720" y="3730752"/>
            <a:ext cx="4736592"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Tested with =CORREL() against a derived numeric Severity Level.</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In a healthy process this number would be strongly negative — severe work resolved fastest.</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Instead ordinary Normal tickets — 88,656 of them — are the slowest of all at 4.66 days.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Urgent tickets close in 2.00 days and Major in 3.91 — both faster than Normal.</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Either the routing rules are misconfigured, or agents are bypassing them.</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9  ·  SUBJECTIVE INSIGHT</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Identical workloads, very different outcomes</a:t>
            </a:r>
            <a:endParaRPr lang="en-US" sz="3200" dirty="0"/>
          </a:p>
        </p:txBody>
      </p:sp>
      <p:graphicFrame>
        <p:nvGraphicFramePr>
          <p:cNvPr id="4" name="Chart 0"/>
          <p:cNvGraphicFramePr/>
          <p:nvPr/>
        </p:nvGraphicFramePr>
        <p:xfrm>
          <a:off x="566928" y="1517904"/>
          <a:ext cx="64008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69480" y="1572768"/>
            <a:ext cx="4370832" cy="1591056"/>
          </a:xfrm>
          <a:prstGeom prst="roundRect">
            <a:avLst>
              <a:gd name="adj" fmla="val 3448"/>
            </a:avLst>
          </a:prstGeom>
          <a:solidFill>
            <a:srgbClr val="F4F7FB"/>
          </a:solidFill>
          <a:ln/>
        </p:spPr>
      </p:sp>
      <p:sp>
        <p:nvSpPr>
          <p:cNvPr id="6" name="Text 3"/>
          <p:cNvSpPr txBox="1"/>
          <p:nvPr/>
        </p:nvSpPr>
        <p:spPr>
          <a:xfrm>
            <a:off x="7269480" y="1682496"/>
            <a:ext cx="4370832" cy="658368"/>
          </a:xfrm>
          <a:prstGeom prst="rect">
            <a:avLst/>
          </a:prstGeom>
          <a:noFill/>
          <a:ln/>
        </p:spPr>
        <p:txBody>
          <a:bodyPr wrap="square" lIns="0" tIns="0" rIns="0" bIns="0" rtlCol="0" anchor="ctr"/>
          <a:lstStyle/>
          <a:p>
            <a:pPr marL="0" indent="0" algn="ctr">
              <a:buNone/>
            </a:pPr>
            <a:r>
              <a:rPr lang="en-US" sz="3400" b="1" dirty="0">
                <a:solidFill>
                  <a:srgbClr val="E8833A"/>
                </a:solidFill>
                <a:latin typeface="Cambria" pitchFamily="34" charset="0"/>
                <a:ea typeface="Cambria" pitchFamily="34" charset="-122"/>
                <a:cs typeface="Cambria" pitchFamily="34" charset="-120"/>
              </a:rPr>
              <a:t>1.55</a:t>
            </a:r>
            <a:endParaRPr lang="en-US" sz="3400" dirty="0"/>
          </a:p>
        </p:txBody>
      </p:sp>
      <p:sp>
        <p:nvSpPr>
          <p:cNvPr id="7" name="Text 4"/>
          <p:cNvSpPr txBox="1"/>
          <p:nvPr/>
        </p:nvSpPr>
        <p:spPr>
          <a:xfrm>
            <a:off x="7342632" y="2359152"/>
            <a:ext cx="4224528"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POINT GAP · WORST TO BEST AGENT</a:t>
            </a:r>
            <a:endParaRPr lang="en-US" sz="1050" dirty="0"/>
          </a:p>
        </p:txBody>
      </p:sp>
      <p:sp>
        <p:nvSpPr>
          <p:cNvPr id="8" name="Text 5"/>
          <p:cNvSpPr txBox="1"/>
          <p:nvPr/>
        </p:nvSpPr>
        <p:spPr>
          <a:xfrm>
            <a:off x="7342632" y="2706624"/>
            <a:ext cx="4224528" cy="384048"/>
          </a:xfrm>
          <a:prstGeom prst="rect">
            <a:avLst/>
          </a:prstGeom>
          <a:noFill/>
          <a:ln/>
        </p:spPr>
        <p:txBody>
          <a:bodyPr wrap="square" lIns="0" tIns="0" rIns="0" bIns="0" rtlCol="0" anchor="t"/>
          <a:lstStyle/>
          <a:p>
            <a:pPr marL="0" indent="0" algn="ctr">
              <a:buNone/>
            </a:pPr>
            <a:r>
              <a:rPr lang="en-US" sz="950" i="1" dirty="0">
                <a:solidFill>
                  <a:srgbClr val="E8833A"/>
                </a:solidFill>
                <a:latin typeface="Calibri" pitchFamily="34" charset="0"/>
                <a:ea typeface="Calibri" pitchFamily="34" charset="-122"/>
                <a:cs typeface="Calibri" pitchFamily="34" charset="-120"/>
              </a:rPr>
              <a:t>On caseloads within 9% of each other</a:t>
            </a:r>
            <a:endParaRPr lang="en-US" sz="950" dirty="0"/>
          </a:p>
        </p:txBody>
      </p:sp>
      <p:sp>
        <p:nvSpPr>
          <p:cNvPr id="9" name="Text 6"/>
          <p:cNvSpPr txBox="1"/>
          <p:nvPr/>
        </p:nvSpPr>
        <p:spPr>
          <a:xfrm>
            <a:off x="7269480" y="3566160"/>
            <a:ext cx="4370832"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Why this is the key insight</a:t>
            </a:r>
            <a:endParaRPr lang="en-US" sz="1350" dirty="0"/>
          </a:p>
        </p:txBody>
      </p:sp>
      <p:sp>
        <p:nvSpPr>
          <p:cNvPr id="10" name="Text 7"/>
          <p:cNvSpPr txBox="1"/>
          <p:nvPr/>
        </p:nvSpPr>
        <p:spPr>
          <a:xfrm>
            <a:off x="7269480" y="3895344"/>
            <a:ext cx="4370832" cy="21031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All 50 agents handled 1,856–2,027 tickets — a spread of only 9%.</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So there is no capacity bottleneck, and performance gaps are genuine, not workload artefacts.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Seniority explains almost none of it — the variation is individual, so coaching can close it.</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The five slowest and the five least-liked are different people — but at agent level satisfaction and speed correlate −0.40, so the problems are related, not independent.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SLIDE 10  ·  SUBJECTIVE INSIGHT</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 third of tickets enter the queue with no priority</a:t>
            </a:r>
            <a:endParaRPr lang="en-US" sz="3200" dirty="0"/>
          </a:p>
        </p:txBody>
      </p:sp>
      <p:graphicFrame>
        <p:nvGraphicFramePr>
          <p:cNvPr id="4" name="Chart 0"/>
          <p:cNvGraphicFramePr/>
          <p:nvPr/>
        </p:nvGraphicFramePr>
        <p:xfrm>
          <a:off x="566928" y="1517904"/>
          <a:ext cx="60350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03720" y="1572768"/>
            <a:ext cx="4736592" cy="1591056"/>
          </a:xfrm>
          <a:prstGeom prst="roundRect">
            <a:avLst>
              <a:gd name="adj" fmla="val 3448"/>
            </a:avLst>
          </a:prstGeom>
          <a:solidFill>
            <a:srgbClr val="F4F7FB"/>
          </a:solidFill>
          <a:ln/>
        </p:spPr>
      </p:sp>
      <p:sp>
        <p:nvSpPr>
          <p:cNvPr id="6" name="Text 3"/>
          <p:cNvSpPr txBox="1"/>
          <p:nvPr/>
        </p:nvSpPr>
        <p:spPr>
          <a:xfrm>
            <a:off x="6903720" y="1682496"/>
            <a:ext cx="4736592" cy="658368"/>
          </a:xfrm>
          <a:prstGeom prst="rect">
            <a:avLst/>
          </a:prstGeom>
          <a:noFill/>
          <a:ln/>
        </p:spPr>
        <p:txBody>
          <a:bodyPr wrap="square" lIns="0" tIns="0" rIns="0" bIns="0" rtlCol="0" anchor="ctr"/>
          <a:lstStyle/>
          <a:p>
            <a:pPr marL="0" indent="0" algn="ctr">
              <a:buNone/>
            </a:pPr>
            <a:r>
              <a:rPr lang="en-US" sz="3400" b="1" dirty="0">
                <a:solidFill>
                  <a:srgbClr val="C0392B"/>
                </a:solidFill>
                <a:latin typeface="Cambria" pitchFamily="34" charset="0"/>
                <a:ea typeface="Cambria" pitchFamily="34" charset="-122"/>
                <a:cs typeface="Cambria" pitchFamily="34" charset="-120"/>
              </a:rPr>
              <a:t>30.2%</a:t>
            </a:r>
            <a:endParaRPr lang="en-US" sz="3400" dirty="0"/>
          </a:p>
        </p:txBody>
      </p:sp>
      <p:sp>
        <p:nvSpPr>
          <p:cNvPr id="7" name="Text 4"/>
          <p:cNvSpPr txBox="1"/>
          <p:nvPr/>
        </p:nvSpPr>
        <p:spPr>
          <a:xfrm>
            <a:off x="6976872" y="2359152"/>
            <a:ext cx="4590288"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LOGGED WITH NO PRIORITY</a:t>
            </a:r>
            <a:endParaRPr lang="en-US" sz="1050" dirty="0"/>
          </a:p>
        </p:txBody>
      </p:sp>
      <p:sp>
        <p:nvSpPr>
          <p:cNvPr id="8" name="Text 5"/>
          <p:cNvSpPr txBox="1"/>
          <p:nvPr/>
        </p:nvSpPr>
        <p:spPr>
          <a:xfrm>
            <a:off x="6976872" y="2706624"/>
            <a:ext cx="4590288" cy="384048"/>
          </a:xfrm>
          <a:prstGeom prst="rect">
            <a:avLst/>
          </a:prstGeom>
          <a:noFill/>
          <a:ln/>
        </p:spPr>
        <p:txBody>
          <a:bodyPr wrap="square" lIns="0" tIns="0" rIns="0" bIns="0" rtlCol="0" anchor="t"/>
          <a:lstStyle/>
          <a:p>
            <a:pPr marL="0" indent="0" algn="ctr">
              <a:buNone/>
            </a:pPr>
            <a:r>
              <a:rPr lang="en-US" sz="950" i="1" dirty="0">
                <a:solidFill>
                  <a:srgbClr val="C0392B"/>
                </a:solidFill>
                <a:latin typeface="Calibri" pitchFamily="34" charset="0"/>
                <a:ea typeface="Calibri" pitchFamily="34" charset="-122"/>
                <a:cs typeface="Calibri" pitchFamily="34" charset="-120"/>
              </a:rPr>
              <a:t>29,410 of 97,498 tickets</a:t>
            </a:r>
            <a:endParaRPr lang="en-US" sz="950" dirty="0"/>
          </a:p>
        </p:txBody>
      </p:sp>
      <p:sp>
        <p:nvSpPr>
          <p:cNvPr id="9" name="Text 6"/>
          <p:cNvSpPr txBox="1"/>
          <p:nvPr/>
        </p:nvSpPr>
        <p:spPr>
          <a:xfrm>
            <a:off x="6903720" y="3566160"/>
            <a:ext cx="4736592"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How the current tool is failing</a:t>
            </a:r>
            <a:endParaRPr lang="en-US" sz="1350" dirty="0"/>
          </a:p>
        </p:txBody>
      </p:sp>
      <p:sp>
        <p:nvSpPr>
          <p:cNvPr id="10" name="Text 7"/>
          <p:cNvSpPr txBox="1"/>
          <p:nvPr/>
        </p:nvSpPr>
        <p:spPr>
          <a:xfrm>
            <a:off x="6903720" y="3895344"/>
            <a:ext cx="4736592" cy="21031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PRIORITISATION — severity does not drive sequencing (correlation −0.04).</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DATA CAPTURE — the tool allows a ticket to be created with no priority at all.</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COMPLEXITY — no evidence of escalation routing; Hardware and System never speed up.</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What does work: routine automation. Login Access closes in 0.31 days at high volume.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2C7A4B"/>
                </a:solidFill>
                <a:latin typeface="Calibri" pitchFamily="34" charset="0"/>
                <a:ea typeface="Calibri" pitchFamily="34" charset="-122"/>
                <a:cs typeface="Calibri" pitchFamily="34" charset="-120"/>
              </a:rPr>
              <a:t>SLIDE 11  ·  SUBJECTIVE INSIGHT</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Quality held as demand doubled — but speed doesn't buy satisfaction</a:t>
            </a:r>
            <a:endParaRPr lang="en-US" sz="2600" dirty="0"/>
          </a:p>
        </p:txBody>
      </p:sp>
      <p:graphicFrame>
        <p:nvGraphicFramePr>
          <p:cNvPr id="4" name="Chart 0"/>
          <p:cNvGraphicFramePr/>
          <p:nvPr/>
        </p:nvGraphicFramePr>
        <p:xfrm>
          <a:off x="566928" y="1517904"/>
          <a:ext cx="64008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69480" y="1572768"/>
            <a:ext cx="2103120" cy="1335024"/>
          </a:xfrm>
          <a:prstGeom prst="roundRect">
            <a:avLst>
              <a:gd name="adj" fmla="val 4110"/>
            </a:avLst>
          </a:prstGeom>
          <a:solidFill>
            <a:srgbClr val="F4F7FB"/>
          </a:solidFill>
          <a:ln/>
        </p:spPr>
      </p:sp>
      <p:sp>
        <p:nvSpPr>
          <p:cNvPr id="6" name="Text 3"/>
          <p:cNvSpPr txBox="1"/>
          <p:nvPr/>
        </p:nvSpPr>
        <p:spPr>
          <a:xfrm>
            <a:off x="7269480" y="1682496"/>
            <a:ext cx="2103120" cy="658368"/>
          </a:xfrm>
          <a:prstGeom prst="rect">
            <a:avLst/>
          </a:prstGeom>
          <a:noFill/>
          <a:ln/>
        </p:spPr>
        <p:txBody>
          <a:bodyPr wrap="square" lIns="0" tIns="0" rIns="0" bIns="0" rtlCol="0" anchor="ctr"/>
          <a:lstStyle/>
          <a:p>
            <a:pPr marL="0" indent="0" algn="ctr">
              <a:buNone/>
            </a:pPr>
            <a:r>
              <a:rPr lang="en-US" sz="3400" b="1" dirty="0">
                <a:solidFill>
                  <a:srgbClr val="2C7A4B"/>
                </a:solidFill>
                <a:latin typeface="Cambria" pitchFamily="34" charset="0"/>
                <a:ea typeface="Cambria" pitchFamily="34" charset="-122"/>
                <a:cs typeface="Cambria" pitchFamily="34" charset="-120"/>
              </a:rPr>
              <a:t>4.5</a:t>
            </a:r>
            <a:endParaRPr lang="en-US" sz="3400" dirty="0"/>
          </a:p>
        </p:txBody>
      </p:sp>
      <p:sp>
        <p:nvSpPr>
          <p:cNvPr id="7" name="Text 4"/>
          <p:cNvSpPr txBox="1"/>
          <p:nvPr/>
        </p:nvSpPr>
        <p:spPr>
          <a:xfrm>
            <a:off x="7342632" y="2359152"/>
            <a:ext cx="195681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DAYS — FLAT ALL 5 YEARS</a:t>
            </a:r>
            <a:endParaRPr lang="en-US" sz="1050" dirty="0"/>
          </a:p>
        </p:txBody>
      </p:sp>
      <p:sp>
        <p:nvSpPr>
          <p:cNvPr id="8" name="Shape 5"/>
          <p:cNvSpPr/>
          <p:nvPr/>
        </p:nvSpPr>
        <p:spPr>
          <a:xfrm>
            <a:off x="9537192" y="1572768"/>
            <a:ext cx="2103120" cy="1335024"/>
          </a:xfrm>
          <a:prstGeom prst="roundRect">
            <a:avLst>
              <a:gd name="adj" fmla="val 4110"/>
            </a:avLst>
          </a:prstGeom>
          <a:solidFill>
            <a:srgbClr val="F4F7FB"/>
          </a:solidFill>
          <a:ln/>
        </p:spPr>
      </p:sp>
      <p:sp>
        <p:nvSpPr>
          <p:cNvPr id="9" name="Text 6"/>
          <p:cNvSpPr txBox="1"/>
          <p:nvPr/>
        </p:nvSpPr>
        <p:spPr>
          <a:xfrm>
            <a:off x="9537192" y="1682496"/>
            <a:ext cx="2103120" cy="658368"/>
          </a:xfrm>
          <a:prstGeom prst="rect">
            <a:avLst/>
          </a:prstGeom>
          <a:noFill/>
          <a:ln/>
        </p:spPr>
        <p:txBody>
          <a:bodyPr wrap="square" lIns="0" tIns="0" rIns="0" bIns="0" rtlCol="0" anchor="ctr"/>
          <a:lstStyle/>
          <a:p>
            <a:pPr marL="0" indent="0" algn="ctr">
              <a:buNone/>
            </a:pPr>
            <a:r>
              <a:rPr lang="en-US" sz="3400" b="1" dirty="0">
                <a:solidFill>
                  <a:srgbClr val="C0392B"/>
                </a:solidFill>
                <a:latin typeface="Cambria" pitchFamily="34" charset="0"/>
                <a:ea typeface="Cambria" pitchFamily="34" charset="-122"/>
                <a:cs typeface="Cambria" pitchFamily="34" charset="-120"/>
              </a:rPr>
              <a:t>−0.004</a:t>
            </a:r>
            <a:endParaRPr lang="en-US" sz="3400" dirty="0"/>
          </a:p>
        </p:txBody>
      </p:sp>
      <p:sp>
        <p:nvSpPr>
          <p:cNvPr id="10" name="Text 7"/>
          <p:cNvSpPr txBox="1"/>
          <p:nvPr/>
        </p:nvSpPr>
        <p:spPr>
          <a:xfrm>
            <a:off x="9610344" y="2359152"/>
            <a:ext cx="195681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SPEED vs SATISFACTION</a:t>
            </a:r>
            <a:endParaRPr lang="en-US" sz="1050" dirty="0"/>
          </a:p>
        </p:txBody>
      </p:sp>
      <p:sp>
        <p:nvSpPr>
          <p:cNvPr id="11" name="Text 8"/>
          <p:cNvSpPr txBox="1"/>
          <p:nvPr/>
        </p:nvSpPr>
        <p:spPr>
          <a:xfrm>
            <a:off x="7269480" y="3200400"/>
            <a:ext cx="4370832"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Two findings that change the recommendation</a:t>
            </a:r>
            <a:endParaRPr lang="en-US" sz="1350" dirty="0"/>
          </a:p>
        </p:txBody>
      </p:sp>
      <p:sp>
        <p:nvSpPr>
          <p:cNvPr id="12" name="Text 9"/>
          <p:cNvSpPr txBox="1"/>
          <p:nvPr/>
        </p:nvSpPr>
        <p:spPr>
          <a:xfrm>
            <a:off x="7269480" y="3529584"/>
            <a:ext cx="4370832" cy="23774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Resolution time moved only 4.52–4.59 days while volume rose 123%, and satisfaction rose every year to 4.16.</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So there is no service emergency — we are investing from strength, not firefighting.</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But satisfaction is insensitive to speed: it sits at 4.09–4.11 across categories ranging from 0.31 to 7.63 days.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Technology buys throughput and scale. Training buys satisfaction. Different levers, different outcomes.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2C7A4B"/>
                </a:solidFill>
                <a:latin typeface="Calibri" pitchFamily="34" charset="0"/>
                <a:ea typeface="Calibri" pitchFamily="34" charset="-122"/>
                <a:cs typeface="Calibri" pitchFamily="34" charset="-120"/>
              </a:rPr>
              <a:t>SLIDE 12  ·  STRATEGIC RECOMMENDATION</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1. Invest in training first</a:t>
            </a:r>
            <a:endParaRPr lang="en-US" sz="3200" dirty="0"/>
          </a:p>
        </p:txBody>
      </p:sp>
      <p:sp>
        <p:nvSpPr>
          <p:cNvPr id="4" name="Text 2"/>
          <p:cNvSpPr txBox="1"/>
          <p:nvPr/>
        </p:nvSpPr>
        <p:spPr>
          <a:xfrm>
            <a:off x="566928" y="1207008"/>
            <a:ext cx="10881360" cy="384048"/>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Reasoning: the data shows a consistency problem, not a capacity problem — so the fastest, cheapest return is closing the gap between agents.</a:t>
            </a:r>
            <a:endParaRPr lang="en-US" sz="1350" dirty="0"/>
          </a:p>
        </p:txBody>
      </p:sp>
      <p:sp>
        <p:nvSpPr>
          <p:cNvPr id="5" name="Shape 3"/>
          <p:cNvSpPr/>
          <p:nvPr/>
        </p:nvSpPr>
        <p:spPr>
          <a:xfrm>
            <a:off x="566928" y="1700784"/>
            <a:ext cx="2651760" cy="1335024"/>
          </a:xfrm>
          <a:prstGeom prst="roundRect">
            <a:avLst>
              <a:gd name="adj" fmla="val 4110"/>
            </a:avLst>
          </a:prstGeom>
          <a:solidFill>
            <a:srgbClr val="F4F7FB"/>
          </a:solidFill>
          <a:ln/>
        </p:spPr>
      </p:sp>
      <p:sp>
        <p:nvSpPr>
          <p:cNvPr id="6" name="Text 4"/>
          <p:cNvSpPr txBox="1"/>
          <p:nvPr/>
        </p:nvSpPr>
        <p:spPr>
          <a:xfrm>
            <a:off x="566928" y="1810512"/>
            <a:ext cx="2651760" cy="658368"/>
          </a:xfrm>
          <a:prstGeom prst="rect">
            <a:avLst/>
          </a:prstGeom>
          <a:noFill/>
          <a:ln/>
        </p:spPr>
        <p:txBody>
          <a:bodyPr wrap="square" lIns="0" tIns="0" rIns="0" bIns="0" rtlCol="0" anchor="ctr"/>
          <a:lstStyle/>
          <a:p>
            <a:pPr marL="0" indent="0" algn="ctr">
              <a:buNone/>
            </a:pPr>
            <a:r>
              <a:rPr lang="en-US" sz="3400" b="1" dirty="0">
                <a:solidFill>
                  <a:srgbClr val="2C7A4B"/>
                </a:solidFill>
                <a:latin typeface="Cambria" pitchFamily="34" charset="0"/>
                <a:ea typeface="Cambria" pitchFamily="34" charset="-122"/>
                <a:cs typeface="Cambria" pitchFamily="34" charset="-120"/>
              </a:rPr>
              <a:t>1–3</a:t>
            </a:r>
            <a:endParaRPr lang="en-US" sz="3400" dirty="0"/>
          </a:p>
        </p:txBody>
      </p:sp>
      <p:sp>
        <p:nvSpPr>
          <p:cNvPr id="7" name="Text 5"/>
          <p:cNvSpPr txBox="1"/>
          <p:nvPr/>
        </p:nvSpPr>
        <p:spPr>
          <a:xfrm>
            <a:off x="640080" y="2487168"/>
            <a:ext cx="250545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MONTHS TO IMPACT</a:t>
            </a:r>
            <a:endParaRPr lang="en-US" sz="1050" dirty="0"/>
          </a:p>
        </p:txBody>
      </p:sp>
      <p:sp>
        <p:nvSpPr>
          <p:cNvPr id="8" name="Shape 6"/>
          <p:cNvSpPr/>
          <p:nvPr/>
        </p:nvSpPr>
        <p:spPr>
          <a:xfrm>
            <a:off x="3401568" y="1700784"/>
            <a:ext cx="2651760" cy="1335024"/>
          </a:xfrm>
          <a:prstGeom prst="roundRect">
            <a:avLst>
              <a:gd name="adj" fmla="val 4110"/>
            </a:avLst>
          </a:prstGeom>
          <a:solidFill>
            <a:srgbClr val="F4F7FB"/>
          </a:solidFill>
          <a:ln/>
        </p:spPr>
      </p:sp>
      <p:sp>
        <p:nvSpPr>
          <p:cNvPr id="9" name="Text 7"/>
          <p:cNvSpPr txBox="1"/>
          <p:nvPr/>
        </p:nvSpPr>
        <p:spPr>
          <a:xfrm>
            <a:off x="3401568" y="1810512"/>
            <a:ext cx="2651760" cy="658368"/>
          </a:xfrm>
          <a:prstGeom prst="rect">
            <a:avLst/>
          </a:prstGeom>
          <a:noFill/>
          <a:ln/>
        </p:spPr>
        <p:txBody>
          <a:bodyPr wrap="square" lIns="0" tIns="0" rIns="0" bIns="0" rtlCol="0" anchor="ctr"/>
          <a:lstStyle/>
          <a:p>
            <a:pPr marL="0" indent="0" algn="ctr">
              <a:buNone/>
            </a:pPr>
            <a:r>
              <a:rPr lang="en-US" sz="3400" b="1" dirty="0">
                <a:solidFill>
                  <a:srgbClr val="2C7A4B"/>
                </a:solidFill>
                <a:latin typeface="Cambria" pitchFamily="34" charset="0"/>
                <a:ea typeface="Cambria" pitchFamily="34" charset="-122"/>
                <a:cs typeface="Cambria" pitchFamily="34" charset="-120"/>
              </a:rPr>
              <a:t>1.55</a:t>
            </a:r>
            <a:endParaRPr lang="en-US" sz="3400" dirty="0"/>
          </a:p>
        </p:txBody>
      </p:sp>
      <p:sp>
        <p:nvSpPr>
          <p:cNvPr id="10" name="Text 8"/>
          <p:cNvSpPr txBox="1"/>
          <p:nvPr/>
        </p:nvSpPr>
        <p:spPr>
          <a:xfrm>
            <a:off x="3474720" y="2487168"/>
            <a:ext cx="2505456" cy="365760"/>
          </a:xfrm>
          <a:prstGeom prst="rect">
            <a:avLst/>
          </a:prstGeom>
          <a:noFill/>
          <a:ln/>
        </p:spPr>
        <p:txBody>
          <a:bodyPr wrap="square" lIns="0" tIns="0" rIns="0" bIns="0" rtlCol="0" anchor="t"/>
          <a:lstStyle/>
          <a:p>
            <a:pPr marL="0" indent="0" algn="ctr">
              <a:buNone/>
            </a:pPr>
            <a:r>
              <a:rPr lang="en-US" sz="1050" b="1" dirty="0">
                <a:solidFill>
                  <a:srgbClr val="6B7280"/>
                </a:solidFill>
                <a:latin typeface="Calibri" pitchFamily="34" charset="0"/>
                <a:ea typeface="Calibri" pitchFamily="34" charset="-122"/>
                <a:cs typeface="Calibri" pitchFamily="34" charset="-120"/>
              </a:rPr>
              <a:t>POINT GAP TO CLOSE</a:t>
            </a:r>
            <a:endParaRPr lang="en-US" sz="1050" dirty="0"/>
          </a:p>
        </p:txBody>
      </p:sp>
      <p:sp>
        <p:nvSpPr>
          <p:cNvPr id="11" name="Text 9"/>
          <p:cNvSpPr txBox="1"/>
          <p:nvPr/>
        </p:nvSpPr>
        <p:spPr>
          <a:xfrm>
            <a:off x="566928" y="3255264"/>
            <a:ext cx="5504688"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Step-by-step reasoning</a:t>
            </a:r>
            <a:endParaRPr lang="en-US" sz="1350" dirty="0"/>
          </a:p>
        </p:txBody>
      </p:sp>
      <p:sp>
        <p:nvSpPr>
          <p:cNvPr id="12" name="Text 10"/>
          <p:cNvSpPr txBox="1"/>
          <p:nvPr/>
        </p:nvSpPr>
        <p:spPr>
          <a:xfrm>
            <a:off x="566928" y="3584448"/>
            <a:ext cx="5504688" cy="22860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Workload per agent varies by only 9% → hiring removes no bottleneck.</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Satisfaction varies 3.04 to 4.60 on the same caseload → the gap is skill, not load.</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Satisfaction and speed correlate −0.40 at agent level → a combined ratio ranks candidates fairly.</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Skill gaps close with coaching, at one-off rather than recurring cost.</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Expected impact: lifting the weakest quartile to the team median is free capacity at the same headcount.</a:t>
            </a:r>
            <a:endParaRPr lang="en-US" sz="1250" dirty="0"/>
          </a:p>
        </p:txBody>
      </p:sp>
      <p:sp>
        <p:nvSpPr>
          <p:cNvPr id="13" name="Shape 11"/>
          <p:cNvSpPr/>
          <p:nvPr/>
        </p:nvSpPr>
        <p:spPr>
          <a:xfrm>
            <a:off x="6400800" y="1700784"/>
            <a:ext cx="5239512" cy="4114800"/>
          </a:xfrm>
          <a:prstGeom prst="roundRect">
            <a:avLst>
              <a:gd name="adj" fmla="val 1333"/>
            </a:avLst>
          </a:prstGeom>
          <a:solidFill>
            <a:srgbClr val="F4F7FB"/>
          </a:solidFill>
          <a:ln/>
        </p:spPr>
      </p:sp>
      <p:sp>
        <p:nvSpPr>
          <p:cNvPr id="14" name="Text 12"/>
          <p:cNvSpPr txBox="1"/>
          <p:nvPr/>
        </p:nvSpPr>
        <p:spPr>
          <a:xfrm>
            <a:off x="6629400" y="1901952"/>
            <a:ext cx="4782312" cy="310896"/>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Balanced training priority — combined metric</a:t>
            </a:r>
            <a:endParaRPr lang="en-US" sz="1400" dirty="0"/>
          </a:p>
        </p:txBody>
      </p:sp>
      <p:sp>
        <p:nvSpPr>
          <p:cNvPr id="15" name="Text 13"/>
          <p:cNvSpPr txBox="1"/>
          <p:nvPr/>
        </p:nvSpPr>
        <p:spPr>
          <a:xfrm>
            <a:off x="6629400" y="2231136"/>
            <a:ext cx="4782312" cy="365760"/>
          </a:xfrm>
          <a:prstGeom prst="rect">
            <a:avLst/>
          </a:prstGeom>
          <a:noFill/>
          <a:ln/>
        </p:spPr>
        <p:txBody>
          <a:bodyPr wrap="square" lIns="0" tIns="0" rIns="0" bIns="0" rtlCol="0" anchor="ctr"/>
          <a:lstStyle/>
          <a:p>
            <a:pPr marL="0" indent="0">
              <a:buNone/>
            </a:pPr>
            <a:r>
              <a:rPr lang="en-US" sz="1150" i="1" dirty="0">
                <a:solidFill>
                  <a:srgbClr val="C0392B"/>
                </a:solidFill>
                <a:latin typeface="Calibri" pitchFamily="34" charset="0"/>
                <a:ea typeface="Calibri" pitchFamily="34" charset="-122"/>
                <a:cs typeface="Calibri" pitchFamily="34" charset="-120"/>
              </a:rPr>
              <a:t>Ranked on a combined metric — Avg Satisfaction ÷ Avg Resolution Time — so both dimensions count.</a:t>
            </a:r>
            <a:endParaRPr lang="en-US" sz="1150" dirty="0"/>
          </a:p>
        </p:txBody>
      </p:sp>
      <p:sp>
        <p:nvSpPr>
          <p:cNvPr id="16" name="Shape 14"/>
          <p:cNvSpPr/>
          <p:nvPr/>
        </p:nvSpPr>
        <p:spPr>
          <a:xfrm>
            <a:off x="6629400" y="2670048"/>
            <a:ext cx="420624" cy="420624"/>
          </a:xfrm>
          <a:prstGeom prst="ellipse">
            <a:avLst/>
          </a:prstGeom>
          <a:solidFill>
            <a:srgbClr val="C0392B"/>
          </a:solidFill>
          <a:ln/>
        </p:spPr>
      </p:sp>
      <p:sp>
        <p:nvSpPr>
          <p:cNvPr id="17" name="Text 15"/>
          <p:cNvSpPr txBox="1"/>
          <p:nvPr/>
        </p:nvSpPr>
        <p:spPr>
          <a:xfrm>
            <a:off x="6629400" y="2670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6"/>
          <p:cNvSpPr txBox="1"/>
          <p:nvPr/>
        </p:nvSpPr>
        <p:spPr>
          <a:xfrm>
            <a:off x="7232904" y="2633472"/>
            <a:ext cx="4178808"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Priority 5 — by combined ratio</a:t>
            </a:r>
            <a:endParaRPr lang="en-US" sz="1300" dirty="0"/>
          </a:p>
        </p:txBody>
      </p:sp>
      <p:sp>
        <p:nvSpPr>
          <p:cNvPr id="19" name="Text 17"/>
          <p:cNvSpPr txBox="1"/>
          <p:nvPr/>
        </p:nvSpPr>
        <p:spPr>
          <a:xfrm>
            <a:off x="7232904" y="2926080"/>
            <a:ext cx="4178808"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Alfonso Barraza 0.609 · Lorena Leon 0.658 · Nurio Zepeda 0.668 · Elena Velez 0.672 · Alberto Trejo 0.675</a:t>
            </a:r>
            <a:endParaRPr lang="en-US" sz="1100" dirty="0"/>
          </a:p>
        </p:txBody>
      </p:sp>
      <p:sp>
        <p:nvSpPr>
          <p:cNvPr id="20" name="Shape 18"/>
          <p:cNvSpPr/>
          <p:nvPr/>
        </p:nvSpPr>
        <p:spPr>
          <a:xfrm>
            <a:off x="6629400" y="3712464"/>
            <a:ext cx="420624" cy="420624"/>
          </a:xfrm>
          <a:prstGeom prst="ellipse">
            <a:avLst/>
          </a:prstGeom>
          <a:solidFill>
            <a:srgbClr val="E8833A"/>
          </a:solidFill>
          <a:ln/>
        </p:spPr>
      </p:sp>
      <p:sp>
        <p:nvSpPr>
          <p:cNvPr id="21" name="Text 19"/>
          <p:cNvSpPr txBox="1"/>
          <p:nvPr/>
        </p:nvSpPr>
        <p:spPr>
          <a:xfrm>
            <a:off x="6629400" y="37124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20"/>
          <p:cNvSpPr txBox="1"/>
          <p:nvPr/>
        </p:nvSpPr>
        <p:spPr>
          <a:xfrm>
            <a:off x="7232904" y="3675888"/>
            <a:ext cx="4178808"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Split by cause</a:t>
            </a:r>
            <a:endParaRPr lang="en-US" sz="1300" dirty="0"/>
          </a:p>
        </p:txBody>
      </p:sp>
      <p:sp>
        <p:nvSpPr>
          <p:cNvPr id="23" name="Text 21"/>
          <p:cNvSpPr txBox="1"/>
          <p:nvPr/>
        </p:nvSpPr>
        <p:spPr>
          <a:xfrm>
            <a:off x="7232904" y="3968496"/>
            <a:ext cx="4178808"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Soft skills where satisfaction is weak; technical and process training where speed is — aimed at Hardware and System</a:t>
            </a:r>
            <a:endParaRPr lang="en-US" sz="1100" dirty="0"/>
          </a:p>
        </p:txBody>
      </p:sp>
      <p:sp>
        <p:nvSpPr>
          <p:cNvPr id="24" name="Shape 22"/>
          <p:cNvSpPr/>
          <p:nvPr/>
        </p:nvSpPr>
        <p:spPr>
          <a:xfrm>
            <a:off x="6629400" y="4754880"/>
            <a:ext cx="420624" cy="420624"/>
          </a:xfrm>
          <a:prstGeom prst="ellipse">
            <a:avLst/>
          </a:prstGeom>
          <a:solidFill>
            <a:srgbClr val="2C7A4B"/>
          </a:solidFill>
          <a:ln/>
        </p:spPr>
      </p:sp>
      <p:sp>
        <p:nvSpPr>
          <p:cNvPr id="25" name="Text 23"/>
          <p:cNvSpPr txBox="1"/>
          <p:nvPr/>
        </p:nvSpPr>
        <p:spPr>
          <a:xfrm>
            <a:off x="6629400" y="47548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7232904" y="4718304"/>
            <a:ext cx="4178808" cy="29260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Mentors &amp; target</a:t>
            </a:r>
            <a:endParaRPr lang="en-US" sz="1300" dirty="0"/>
          </a:p>
        </p:txBody>
      </p:sp>
      <p:sp>
        <p:nvSpPr>
          <p:cNvPr id="27" name="Text 25"/>
          <p:cNvSpPr txBox="1"/>
          <p:nvPr/>
        </p:nvSpPr>
        <p:spPr>
          <a:xfrm>
            <a:off x="7232904" y="5010912"/>
            <a:ext cx="4178808" cy="7315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Diana Rojo (1.264) and Jesus Grajeda (1.244) mentor; re-measure in a quarter and target every agent above 0.75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13  ·  STRATEGIC RECOMMENDATION</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2. Then upgrade the ticket management software</a:t>
            </a:r>
            <a:endParaRPr lang="en-US" sz="3200" dirty="0"/>
          </a:p>
        </p:txBody>
      </p:sp>
      <p:sp>
        <p:nvSpPr>
          <p:cNvPr id="4" name="Text 2"/>
          <p:cNvSpPr txBox="1"/>
          <p:nvPr/>
        </p:nvSpPr>
        <p:spPr>
          <a:xfrm>
            <a:off x="566928" y="1207008"/>
            <a:ext cx="10881360" cy="384048"/>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Reasoning: training cannot fix a tool that lets 30% of tickets through with no priority and resolves Urgent work faster than Normal work.</a:t>
            </a:r>
            <a:endParaRPr lang="en-US" sz="1350" dirty="0"/>
          </a:p>
        </p:txBody>
      </p:sp>
      <p:sp>
        <p:nvSpPr>
          <p:cNvPr id="5" name="Shape 3"/>
          <p:cNvSpPr/>
          <p:nvPr/>
        </p:nvSpPr>
        <p:spPr>
          <a:xfrm>
            <a:off x="566928" y="1773936"/>
            <a:ext cx="2615184" cy="3017520"/>
          </a:xfrm>
          <a:prstGeom prst="roundRect">
            <a:avLst>
              <a:gd name="adj" fmla="val 2098"/>
            </a:avLst>
          </a:prstGeom>
          <a:solidFill>
            <a:srgbClr val="F4F7FB"/>
          </a:solidFill>
          <a:ln/>
        </p:spPr>
      </p:sp>
      <p:sp>
        <p:nvSpPr>
          <p:cNvPr id="6" name="Shape 4"/>
          <p:cNvSpPr/>
          <p:nvPr/>
        </p:nvSpPr>
        <p:spPr>
          <a:xfrm>
            <a:off x="822960" y="2011680"/>
            <a:ext cx="512064" cy="512064"/>
          </a:xfrm>
          <a:prstGeom prst="ellipse">
            <a:avLst/>
          </a:prstGeom>
          <a:solidFill>
            <a:srgbClr val="2C7A4B"/>
          </a:solidFill>
          <a:ln/>
        </p:spPr>
      </p:sp>
      <p:sp>
        <p:nvSpPr>
          <p:cNvPr id="7" name="Text 5"/>
          <p:cNvSpPr txBox="1"/>
          <p:nvPr/>
        </p:nvSpPr>
        <p:spPr>
          <a:xfrm>
            <a:off x="822960" y="201168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txBox="1"/>
          <p:nvPr/>
        </p:nvSpPr>
        <p:spPr>
          <a:xfrm>
            <a:off x="822960" y="2651760"/>
            <a:ext cx="2103120" cy="640080"/>
          </a:xfrm>
          <a:prstGeom prst="rect">
            <a:avLst/>
          </a:prstGeom>
          <a:noFill/>
          <a:ln/>
        </p:spPr>
        <p:txBody>
          <a:bodyPr wrap="square" lIns="0" tIns="0" rIns="0" bIns="0" rtlCol="0" anchor="t"/>
          <a:lstStyle/>
          <a:p>
            <a:pPr marL="0" indent="0">
              <a:buNone/>
            </a:pPr>
            <a:r>
              <a:rPr lang="en-US" sz="1400" b="1" dirty="0">
                <a:solidFill>
                  <a:srgbClr val="1A1A1A"/>
                </a:solidFill>
                <a:latin typeface="Calibri" pitchFamily="34" charset="0"/>
                <a:ea typeface="Calibri" pitchFamily="34" charset="-122"/>
                <a:cs typeface="Calibri" pitchFamily="34" charset="-120"/>
              </a:rPr>
              <a:t>Make priority mandatory</a:t>
            </a:r>
            <a:endParaRPr lang="en-US" sz="1400" dirty="0"/>
          </a:p>
        </p:txBody>
      </p:sp>
      <p:sp>
        <p:nvSpPr>
          <p:cNvPr id="9" name="Text 7"/>
          <p:cNvSpPr txBox="1"/>
          <p:nvPr/>
        </p:nvSpPr>
        <p:spPr>
          <a:xfrm>
            <a:off x="822960" y="3310128"/>
            <a:ext cx="2103120" cy="128016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No ticket creatable without one. Addresses 30.2% of the queue — the cheapest fix on this list.</a:t>
            </a:r>
            <a:endParaRPr lang="en-US" sz="1150" dirty="0"/>
          </a:p>
        </p:txBody>
      </p:sp>
      <p:sp>
        <p:nvSpPr>
          <p:cNvPr id="10" name="Shape 8"/>
          <p:cNvSpPr/>
          <p:nvPr/>
        </p:nvSpPr>
        <p:spPr>
          <a:xfrm>
            <a:off x="3364992" y="1773936"/>
            <a:ext cx="2615184" cy="3017520"/>
          </a:xfrm>
          <a:prstGeom prst="roundRect">
            <a:avLst>
              <a:gd name="adj" fmla="val 2098"/>
            </a:avLst>
          </a:prstGeom>
          <a:solidFill>
            <a:srgbClr val="F4F7FB"/>
          </a:solidFill>
          <a:ln/>
        </p:spPr>
      </p:sp>
      <p:sp>
        <p:nvSpPr>
          <p:cNvPr id="11" name="Shape 9"/>
          <p:cNvSpPr/>
          <p:nvPr/>
        </p:nvSpPr>
        <p:spPr>
          <a:xfrm>
            <a:off x="3621024" y="2011680"/>
            <a:ext cx="512064" cy="512064"/>
          </a:xfrm>
          <a:prstGeom prst="ellipse">
            <a:avLst/>
          </a:prstGeom>
          <a:solidFill>
            <a:srgbClr val="E8833A"/>
          </a:solidFill>
          <a:ln/>
        </p:spPr>
      </p:sp>
      <p:sp>
        <p:nvSpPr>
          <p:cNvPr id="12" name="Text 10"/>
          <p:cNvSpPr txBox="1"/>
          <p:nvPr/>
        </p:nvSpPr>
        <p:spPr>
          <a:xfrm>
            <a:off x="3621024" y="201168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txBox="1"/>
          <p:nvPr/>
        </p:nvSpPr>
        <p:spPr>
          <a:xfrm>
            <a:off x="3621024" y="2651760"/>
            <a:ext cx="2103120" cy="640080"/>
          </a:xfrm>
          <a:prstGeom prst="rect">
            <a:avLst/>
          </a:prstGeom>
          <a:noFill/>
          <a:ln/>
        </p:spPr>
        <p:txBody>
          <a:bodyPr wrap="square" lIns="0" tIns="0" rIns="0" bIns="0" rtlCol="0" anchor="t"/>
          <a:lstStyle/>
          <a:p>
            <a:pPr marL="0" indent="0">
              <a:buNone/>
            </a:pPr>
            <a:r>
              <a:rPr lang="en-US" sz="1400" b="1" dirty="0">
                <a:solidFill>
                  <a:srgbClr val="1A1A1A"/>
                </a:solidFill>
                <a:latin typeface="Calibri" pitchFamily="34" charset="0"/>
                <a:ea typeface="Calibri" pitchFamily="34" charset="-122"/>
                <a:cs typeface="Calibri" pitchFamily="34" charset="-120"/>
              </a:rPr>
              <a:t>Rebuild prioritisation rules</a:t>
            </a:r>
            <a:endParaRPr lang="en-US" sz="1400" dirty="0"/>
          </a:p>
        </p:txBody>
      </p:sp>
      <p:sp>
        <p:nvSpPr>
          <p:cNvPr id="14" name="Text 12"/>
          <p:cNvSpPr txBox="1"/>
          <p:nvPr/>
        </p:nvSpPr>
        <p:spPr>
          <a:xfrm>
            <a:off x="3621024" y="3310128"/>
            <a:ext cx="2103120" cy="128016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So severity genuinely drives sequencing. Track the severity–resolution correlation as a health metric.</a:t>
            </a:r>
            <a:endParaRPr lang="en-US" sz="1150" dirty="0"/>
          </a:p>
        </p:txBody>
      </p:sp>
      <p:sp>
        <p:nvSpPr>
          <p:cNvPr id="15" name="Shape 13"/>
          <p:cNvSpPr/>
          <p:nvPr/>
        </p:nvSpPr>
        <p:spPr>
          <a:xfrm>
            <a:off x="6163056" y="1773936"/>
            <a:ext cx="2615184" cy="3017520"/>
          </a:xfrm>
          <a:prstGeom prst="roundRect">
            <a:avLst>
              <a:gd name="adj" fmla="val 2098"/>
            </a:avLst>
          </a:prstGeom>
          <a:solidFill>
            <a:srgbClr val="F4F7FB"/>
          </a:solidFill>
          <a:ln/>
        </p:spPr>
      </p:sp>
      <p:sp>
        <p:nvSpPr>
          <p:cNvPr id="16" name="Shape 14"/>
          <p:cNvSpPr/>
          <p:nvPr/>
        </p:nvSpPr>
        <p:spPr>
          <a:xfrm>
            <a:off x="6419088" y="2011680"/>
            <a:ext cx="512064" cy="512064"/>
          </a:xfrm>
          <a:prstGeom prst="ellipse">
            <a:avLst/>
          </a:prstGeom>
          <a:solidFill>
            <a:srgbClr val="2E6FB8"/>
          </a:solidFill>
          <a:ln/>
        </p:spPr>
      </p:sp>
      <p:sp>
        <p:nvSpPr>
          <p:cNvPr id="17" name="Text 15"/>
          <p:cNvSpPr txBox="1"/>
          <p:nvPr/>
        </p:nvSpPr>
        <p:spPr>
          <a:xfrm>
            <a:off x="6419088" y="201168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txBox="1"/>
          <p:nvPr/>
        </p:nvSpPr>
        <p:spPr>
          <a:xfrm>
            <a:off x="6419088" y="2651760"/>
            <a:ext cx="2103120" cy="640080"/>
          </a:xfrm>
          <a:prstGeom prst="rect">
            <a:avLst/>
          </a:prstGeom>
          <a:noFill/>
          <a:ln/>
        </p:spPr>
        <p:txBody>
          <a:bodyPr wrap="square" lIns="0" tIns="0" rIns="0" bIns="0" rtlCol="0" anchor="t"/>
          <a:lstStyle/>
          <a:p>
            <a:pPr marL="0" indent="0">
              <a:buNone/>
            </a:pPr>
            <a:r>
              <a:rPr lang="en-US" sz="1400" b="1" dirty="0">
                <a:solidFill>
                  <a:srgbClr val="1A1A1A"/>
                </a:solidFill>
                <a:latin typeface="Calibri" pitchFamily="34" charset="0"/>
                <a:ea typeface="Calibri" pitchFamily="34" charset="-122"/>
                <a:cs typeface="Calibri" pitchFamily="34" charset="-120"/>
              </a:rPr>
              <a:t>Automate routing &amp; escalation</a:t>
            </a:r>
            <a:endParaRPr lang="en-US" sz="1400" dirty="0"/>
          </a:p>
        </p:txBody>
      </p:sp>
      <p:sp>
        <p:nvSpPr>
          <p:cNvPr id="19" name="Text 17"/>
          <p:cNvSpPr txBox="1"/>
          <p:nvPr/>
        </p:nvSpPr>
        <p:spPr>
          <a:xfrm>
            <a:off x="6419088" y="3310128"/>
            <a:ext cx="2103120" cy="128016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Send Hardware and System tickets to specialists automatically, with triggers on ageing tickets.</a:t>
            </a:r>
            <a:endParaRPr lang="en-US" sz="1150" dirty="0"/>
          </a:p>
        </p:txBody>
      </p:sp>
      <p:sp>
        <p:nvSpPr>
          <p:cNvPr id="20" name="Shape 18"/>
          <p:cNvSpPr/>
          <p:nvPr/>
        </p:nvSpPr>
        <p:spPr>
          <a:xfrm>
            <a:off x="8961120" y="1773936"/>
            <a:ext cx="2615184" cy="3017520"/>
          </a:xfrm>
          <a:prstGeom prst="roundRect">
            <a:avLst>
              <a:gd name="adj" fmla="val 2098"/>
            </a:avLst>
          </a:prstGeom>
          <a:solidFill>
            <a:srgbClr val="F4F7FB"/>
          </a:solidFill>
          <a:ln/>
        </p:spPr>
      </p:sp>
      <p:sp>
        <p:nvSpPr>
          <p:cNvPr id="21" name="Shape 19"/>
          <p:cNvSpPr/>
          <p:nvPr/>
        </p:nvSpPr>
        <p:spPr>
          <a:xfrm>
            <a:off x="9217152" y="2011680"/>
            <a:ext cx="512064" cy="512064"/>
          </a:xfrm>
          <a:prstGeom prst="ellipse">
            <a:avLst/>
          </a:prstGeom>
          <a:solidFill>
            <a:srgbClr val="1E2761"/>
          </a:solidFill>
          <a:ln/>
        </p:spPr>
      </p:sp>
      <p:sp>
        <p:nvSpPr>
          <p:cNvPr id="22" name="Text 20"/>
          <p:cNvSpPr txBox="1"/>
          <p:nvPr/>
        </p:nvSpPr>
        <p:spPr>
          <a:xfrm>
            <a:off x="9217152" y="201168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3" name="Text 21"/>
          <p:cNvSpPr txBox="1"/>
          <p:nvPr/>
        </p:nvSpPr>
        <p:spPr>
          <a:xfrm>
            <a:off x="9217152" y="2651760"/>
            <a:ext cx="2103120" cy="640080"/>
          </a:xfrm>
          <a:prstGeom prst="rect">
            <a:avLst/>
          </a:prstGeom>
          <a:noFill/>
          <a:ln/>
        </p:spPr>
        <p:txBody>
          <a:bodyPr wrap="square" lIns="0" tIns="0" rIns="0" bIns="0" rtlCol="0" anchor="t"/>
          <a:lstStyle/>
          <a:p>
            <a:pPr marL="0" indent="0">
              <a:buNone/>
            </a:pPr>
            <a:r>
              <a:rPr lang="en-US" sz="1400" b="1" dirty="0">
                <a:solidFill>
                  <a:srgbClr val="1A1A1A"/>
                </a:solidFill>
                <a:latin typeface="Calibri" pitchFamily="34" charset="0"/>
                <a:ea typeface="Calibri" pitchFamily="34" charset="-122"/>
                <a:cs typeface="Calibri" pitchFamily="34" charset="-120"/>
              </a:rPr>
              <a:t>Self-service for Login Access</a:t>
            </a:r>
            <a:endParaRPr lang="en-US" sz="1400" dirty="0"/>
          </a:p>
        </p:txBody>
      </p:sp>
      <p:sp>
        <p:nvSpPr>
          <p:cNvPr id="24" name="Text 22"/>
          <p:cNvSpPr txBox="1"/>
          <p:nvPr/>
        </p:nvSpPr>
        <p:spPr>
          <a:xfrm>
            <a:off x="9217152" y="3310128"/>
            <a:ext cx="2103120" cy="128016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29,193 tickets a year that could leave the queue entirely — password resets and account unlocks.</a:t>
            </a:r>
            <a:endParaRPr lang="en-US" sz="1150" dirty="0"/>
          </a:p>
        </p:txBody>
      </p:sp>
      <p:sp>
        <p:nvSpPr>
          <p:cNvPr id="25" name="Shape 23"/>
          <p:cNvSpPr/>
          <p:nvPr/>
        </p:nvSpPr>
        <p:spPr>
          <a:xfrm>
            <a:off x="566928" y="4992624"/>
            <a:ext cx="11055096" cy="1005840"/>
          </a:xfrm>
          <a:prstGeom prst="roundRect">
            <a:avLst>
              <a:gd name="adj" fmla="val 5455"/>
            </a:avLst>
          </a:prstGeom>
          <a:solidFill>
            <a:srgbClr val="FDF1E7"/>
          </a:solidFill>
          <a:ln/>
        </p:spPr>
      </p:sp>
      <p:sp>
        <p:nvSpPr>
          <p:cNvPr id="26" name="Text 24"/>
          <p:cNvSpPr txBox="1"/>
          <p:nvPr/>
        </p:nvSpPr>
        <p:spPr>
          <a:xfrm>
            <a:off x="795528" y="5120640"/>
            <a:ext cx="10607040" cy="7772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Expected impact: closing even a third of the System gap — 6.62 days down to about 4.4 — pulls the company-wide average from 4.55 to roughly 3.7 days. A 19% improvement with no additional headcount.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SLIDE 14  ·  STRATEGIC RECOMMENDATION</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3. Hold on hiring — and dismiss no one</a:t>
            </a:r>
            <a:endParaRPr lang="en-US" sz="3200" dirty="0"/>
          </a:p>
        </p:txBody>
      </p:sp>
      <p:sp>
        <p:nvSpPr>
          <p:cNvPr id="4" name="Shape 2"/>
          <p:cNvSpPr/>
          <p:nvPr/>
        </p:nvSpPr>
        <p:spPr>
          <a:xfrm>
            <a:off x="566928" y="1481328"/>
            <a:ext cx="5394960" cy="4206240"/>
          </a:xfrm>
          <a:prstGeom prst="roundRect">
            <a:avLst>
              <a:gd name="adj" fmla="val 1304"/>
            </a:avLst>
          </a:prstGeom>
          <a:solidFill>
            <a:srgbClr val="F4F7FB"/>
          </a:solidFill>
          <a:ln/>
        </p:spPr>
      </p:sp>
      <p:sp>
        <p:nvSpPr>
          <p:cNvPr id="5" name="Text 3"/>
          <p:cNvSpPr txBox="1"/>
          <p:nvPr/>
        </p:nvSpPr>
        <p:spPr>
          <a:xfrm>
            <a:off x="822960" y="1700784"/>
            <a:ext cx="4882896"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Do not hire yet</a:t>
            </a:r>
            <a:endParaRPr lang="en-US" sz="1600" dirty="0"/>
          </a:p>
        </p:txBody>
      </p:sp>
      <p:sp>
        <p:nvSpPr>
          <p:cNvPr id="6" name="Text 4"/>
          <p:cNvSpPr txBox="1"/>
          <p:nvPr/>
        </p:nvSpPr>
        <p:spPr>
          <a:xfrm>
            <a:off x="822960" y="2139696"/>
            <a:ext cx="4882896" cy="32918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All 50 agents carry within 9% of the same caseload — there is no queue bottleneck to relieve.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Resolution time stayed flat while volume grew 123%, so the team is not yet at its limit.</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Hiring adds permanent cost to solve a problem the data does not show.</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Revisit once training and the tooling fixes are done, and if volume per agent genuinely exceeds capacity.</a:t>
            </a:r>
            <a:endParaRPr lang="en-US" sz="1250" dirty="0"/>
          </a:p>
        </p:txBody>
      </p:sp>
      <p:sp>
        <p:nvSpPr>
          <p:cNvPr id="7" name="Shape 5"/>
          <p:cNvSpPr/>
          <p:nvPr/>
        </p:nvSpPr>
        <p:spPr>
          <a:xfrm>
            <a:off x="6245352" y="1481328"/>
            <a:ext cx="5394960" cy="4206240"/>
          </a:xfrm>
          <a:prstGeom prst="roundRect">
            <a:avLst>
              <a:gd name="adj" fmla="val 1304"/>
            </a:avLst>
          </a:prstGeom>
          <a:solidFill>
            <a:srgbClr val="F4F7FB"/>
          </a:solidFill>
          <a:ln/>
        </p:spPr>
      </p:sp>
      <p:sp>
        <p:nvSpPr>
          <p:cNvPr id="8" name="Text 6"/>
          <p:cNvSpPr txBox="1"/>
          <p:nvPr/>
        </p:nvSpPr>
        <p:spPr>
          <a:xfrm>
            <a:off x="6501384" y="1700784"/>
            <a:ext cx="4882896" cy="365760"/>
          </a:xfrm>
          <a:prstGeom prst="rect">
            <a:avLst/>
          </a:prstGeom>
          <a:noFill/>
          <a:ln/>
        </p:spPr>
        <p:txBody>
          <a:bodyPr wrap="square" lIns="0" tIns="0" rIns="0" bIns="0" rtlCol="0" anchor="ctr"/>
          <a:lstStyle/>
          <a:p>
            <a:pPr marL="0" indent="0">
              <a:buNone/>
            </a:pPr>
            <a:r>
              <a:rPr lang="en-US" sz="1600" b="1" dirty="0">
                <a:solidFill>
                  <a:srgbClr val="2C7A4B"/>
                </a:solidFill>
                <a:latin typeface="Calibri" pitchFamily="34" charset="0"/>
                <a:ea typeface="Calibri" pitchFamily="34" charset="-122"/>
                <a:cs typeface="Calibri" pitchFamily="34" charset="-120"/>
              </a:rPr>
              <a:t>No agent should be dismissed</a:t>
            </a:r>
            <a:endParaRPr lang="en-US" sz="1600" dirty="0"/>
          </a:p>
        </p:txBody>
      </p:sp>
      <p:sp>
        <p:nvSpPr>
          <p:cNvPr id="9" name="Text 7"/>
          <p:cNvSpPr txBox="1"/>
          <p:nvPr/>
        </p:nvSpPr>
        <p:spPr>
          <a:xfrm>
            <a:off x="6501384" y="2139696"/>
            <a:ext cx="4882896"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Every agent handled 1,856–2,027 tickets — nobody is failing to do the work.</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The weakest satisfaction score, 3.04, is still above the mid-point of the scale.</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The slowest agent at 5.55 days is under one day off the team average of 4.55.</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This is a tightly clustered team with a coaching gap, not a performance crisis.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Dismissal would remove ~2,000 tickets a year of capacity to solve what training fixes far more cheaply.</a:t>
            </a:r>
            <a:endParaRPr lang="en-US" sz="1250" dirty="0"/>
          </a:p>
        </p:txBody>
      </p:sp>
      <p:sp>
        <p:nvSpPr>
          <p:cNvPr id="10" name="Text 8"/>
          <p:cNvSpPr txBox="1"/>
          <p:nvPr/>
        </p:nvSpPr>
        <p:spPr>
          <a:xfrm>
            <a:off x="566928" y="5870448"/>
            <a:ext cx="11055096"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Sequencing: train now (1–3 months) → upgrade the tool (6–18 months) → only then revisit headcount.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15</a:t>
            </a:r>
            <a:endParaRPr lang="en-US" sz="1100" dirty="0"/>
          </a:p>
        </p:txBody>
      </p:sp>
      <p:sp>
        <p:nvSpPr>
          <p:cNvPr id="3" name="Text 1"/>
          <p:cNvSpPr txBox="1"/>
          <p:nvPr/>
        </p:nvSpPr>
        <p:spPr>
          <a:xfrm>
            <a:off x="566928" y="384048"/>
            <a:ext cx="676656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Dashboard and Visualizations</a:t>
            </a:r>
            <a:endParaRPr lang="en-US" sz="3000" dirty="0"/>
          </a:p>
        </p:txBody>
      </p:sp>
      <p:sp>
        <p:nvSpPr>
          <p:cNvPr id="4" name="Text 2"/>
          <p:cNvSpPr txBox="1"/>
          <p:nvPr/>
        </p:nvSpPr>
        <p:spPr>
          <a:xfrm>
            <a:off x="6766560" y="457200"/>
            <a:ext cx="4873752" cy="411480"/>
          </a:xfrm>
          <a:prstGeom prst="rect">
            <a:avLst/>
          </a:prstGeom>
          <a:noFill/>
          <a:ln/>
        </p:spPr>
        <p:txBody>
          <a:bodyPr wrap="square" lIns="0" tIns="0" rIns="0" bIns="0" rtlCol="0" anchor="ctr"/>
          <a:lstStyle/>
          <a:p>
            <a:pPr marL="0" indent="0" algn="r">
              <a:buNone/>
            </a:pPr>
            <a:r>
              <a:rPr lang="en-US" sz="1200" i="1" dirty="0">
                <a:solidFill>
                  <a:srgbClr val="6B7280"/>
                </a:solidFill>
                <a:latin typeface="Calibri" pitchFamily="34" charset="0"/>
                <a:ea typeface="Calibri" pitchFamily="34" charset="-122"/>
                <a:cs typeface="Calibri" pitchFamily="34" charset="-120"/>
              </a:rPr>
              <a:t>Four KPI cards · three linked slicers · twelve charts · one uniform colour scheme</a:t>
            </a:r>
            <a:endParaRPr lang="en-US" sz="1200" dirty="0"/>
          </a:p>
        </p:txBody>
      </p:sp>
      <p:pic>
        <p:nvPicPr>
          <p:cNvPr id="5" name="Image 0" descr="C:\Users\ravik\OneDrive\Desktop\New folder\assets2\dashboard_full.png"/>
          <p:cNvPicPr>
            <a:picLocks noChangeAspect="1"/>
          </p:cNvPicPr>
          <p:nvPr/>
        </p:nvPicPr>
        <p:blipFill>
          <a:blip r:embed="rId3"/>
          <a:stretch>
            <a:fillRect/>
          </a:stretch>
        </p:blipFill>
        <p:spPr>
          <a:xfrm>
            <a:off x="658368" y="1024128"/>
            <a:ext cx="10881360" cy="4800600"/>
          </a:xfrm>
          <a:prstGeom prst="rect">
            <a:avLst/>
          </a:prstGeom>
        </p:spPr>
      </p:pic>
      <p:sp>
        <p:nvSpPr>
          <p:cNvPr id="6" name="Text 3"/>
          <p:cNvSpPr txBox="1"/>
          <p:nvPr/>
        </p:nvSpPr>
        <p:spPr>
          <a:xfrm>
            <a:off x="566928" y="5961888"/>
            <a:ext cx="11055096" cy="5486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How to read it:  the three slicers on the left — Year, Request Category and Priority — are connected to all 13 pivot tables on the sheet, so selecting any combination (for example 2020 + Hardware + Unassigned) filters all four KPI cards and all twelve charts together. The next six slides walk through every chart with its key insights.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1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Scale and mix: where the workload actually sits</a:t>
            </a:r>
            <a:endParaRPr lang="en-US" sz="2700" dirty="0"/>
          </a:p>
        </p:txBody>
      </p:sp>
      <p:pic>
        <p:nvPicPr>
          <p:cNvPr id="4" name="Image 0" descr="C:\Users\ravik\OneDrive\Desktop\New folder\assets2\dashboard__ticket_volume_by_category.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Ticket Volume by Category</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System alone is 39,002 tickets — 40% of everything logged.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Login Access is a close second at 29,193 (30%), but as the next slides show it costs almost no time.</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Hardware is the smallest category at 9,733 (10%) — and the slowest to resolve.</a:t>
            </a:r>
            <a:endParaRPr lang="en-US" sz="1150" dirty="0"/>
          </a:p>
        </p:txBody>
      </p:sp>
      <p:pic>
        <p:nvPicPr>
          <p:cNvPr id="7" name="Image 1" descr="C:\Users\ravik\OneDrive\Desktop\New folder\assets2\dashboard__ticket_volume_trend_by_year.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Ticket Volume Trend by Year</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Volume rose from 13,051 to 29,088 a year — up 122.9% with no year of decline.</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2020 accelerated hardest at +35.4% on 2019.</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Whatever we fund has to scale with this curve, not just clear today's queue.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2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Classification: how tickets are labelled on intake</a:t>
            </a:r>
            <a:endParaRPr lang="en-US" sz="2700" dirty="0"/>
          </a:p>
        </p:txBody>
      </p:sp>
      <p:pic>
        <p:nvPicPr>
          <p:cNvPr id="4" name="Image 0" descr="C:\Users\ravik\OneDrive\Desktop\New folder\assets2\dashboard__tickets_by_severity.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Tickets by Severity</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88,656 of 97,498 tickets — 91% — are logged as '2 - Normal'.</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Only 1,392 are Urgent and 356 are left Unclassified.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Severity is barely being used as a discriminator, which is why it fails to predict resolution time.</a:t>
            </a:r>
            <a:endParaRPr lang="en-US" sz="1150" dirty="0"/>
          </a:p>
        </p:txBody>
      </p:sp>
      <p:pic>
        <p:nvPicPr>
          <p:cNvPr id="7" name="Image 1" descr="C:\Users\ravik\OneDrive\Desktop\New folder\assets2\dashboard__ticket_volume_by_priority.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Ticket Volume by Priority</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29,410 tickets (30.2%) carry no priority at all.</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High is the largest assigned band at 35,549, but Unassigned outranks both Low and Mid.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A ticket with no priority cannot be sequenced — this is a tool configuration fault, not an agent fault.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3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Efficiency: where the time is actually lost</a:t>
            </a:r>
            <a:endParaRPr lang="en-US" sz="2700" dirty="0"/>
          </a:p>
        </p:txBody>
      </p:sp>
      <p:pic>
        <p:nvPicPr>
          <p:cNvPr id="4" name="Image 0" descr="C:\Users\ravik\OneDrive\Desktop\New folder\assets2\dashboard__avg_resolution_time_by_category.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Avg Resolution Time by Category</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Hardware averages 7.63 days against Login Access at 0.31 — a 25-fold gap.</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System at 6.62 days across 39,002 tickets is the largest recoverable pool of delay.</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Login Access proves automation works here: high volume, near-instant resolution.</a:t>
            </a:r>
            <a:endParaRPr lang="en-US" sz="1150" dirty="0"/>
          </a:p>
        </p:txBody>
      </p:sp>
      <p:pic>
        <p:nvPicPr>
          <p:cNvPr id="7" name="Image 1" descr="C:\Users\ravik\OneDrive\Desktop\New folder\assets2\dashboard__avg_resolution_time_by_category_quarter_wise.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Avg Resolution Time by Category, Quarter-wise</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gap is structural, not seasonal: Hardware sits at 7.53–7.74 days in every quarter.</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System holds 6.58–6.64 and Login Access 0.31–0.32 in all four quarters.</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Because the pattern never varies, the cause is process and logistics — not a busy period.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4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Triage health: does urgency actually drive speed?</a:t>
            </a:r>
            <a:endParaRPr lang="en-US" sz="2700" dirty="0"/>
          </a:p>
        </p:txBody>
      </p:sp>
      <p:pic>
        <p:nvPicPr>
          <p:cNvPr id="4" name="Image 0" descr="C:\Users\ravik\OneDrive\Desktop\New folder\assets2\dashboard__severity_vs_avg_resolution_time.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Severity vs Avg Resolution Time</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Urgent tickets close fastest at 2.00 days — but Normal tickets are slowest at 4.66.</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Major (3.91) is also resolved faster than Normal, so the ordering is inverted.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CORREL confirms it: severity to resolution time is −0.0405, effectively zero.</a:t>
            </a:r>
            <a:endParaRPr lang="en-US" sz="1150" dirty="0"/>
          </a:p>
        </p:txBody>
      </p:sp>
      <p:pic>
        <p:nvPicPr>
          <p:cNvPr id="7" name="Image 1" descr="C:\Users\ravik\OneDrive\Desktop\New folder\assets2\dashboard__age_group_by_satisfaction_rate.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Age Group by Satisfaction Rate</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Satisfaction by age band spans only 0.25 of a point (4.00 to 4.24).</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Individual agents span 1.55 points — about six times wider, so demographics explain little.</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So coaching should target named individuals on measured performance, not an age group.</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5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Distribution: the shape behind the averages</a:t>
            </a:r>
            <a:endParaRPr lang="en-US" sz="2700" dirty="0"/>
          </a:p>
        </p:txBody>
      </p:sp>
      <p:pic>
        <p:nvPicPr>
          <p:cNvPr id="4" name="Image 0" descr="C:\Users\ravik\OneDrive\Desktop\New folder\assets2\dashboard__distribution_of_tickets_by_satisfaction_score.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Distribution of Tickets by Satisfaction Score</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4.10 average hides a bimodal picture: 50,770 tickets score 5, but 9,907 score 1.</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Only 1,977 tickets score 2 — users rate strongly positive or strongly negative, rarely in between.</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That 9,907-ticket tail is the real target, and an average will never show it moving.</a:t>
            </a:r>
            <a:endParaRPr lang="en-US" sz="1150" dirty="0"/>
          </a:p>
        </p:txBody>
      </p:sp>
      <p:pic>
        <p:nvPicPr>
          <p:cNvPr id="7" name="Image 1" descr="C:\Users\ravik\OneDrive\Desktop\New folder\assets2\dashboard__distribution_of_tickets_by_resolution_time.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Distribution of Tickets by Resolution Time</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25,071 tickets close the same day, but 9,904 take 11 days or more.</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largest single band is 6–10 days at 26,872 tickets.</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Success for the tech investment looks like the 11+ day bar shrinking — not the mean ticking down.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DASHBOARD WALKTHROUGH  ·  6 OF 6</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Trend: is quality holding as demand grows?</a:t>
            </a:r>
            <a:endParaRPr lang="en-US" sz="2700" dirty="0"/>
          </a:p>
        </p:txBody>
      </p:sp>
      <p:pic>
        <p:nvPicPr>
          <p:cNvPr id="4" name="Image 0" descr="C:\Users\ravik\OneDrive\Desktop\New folder\assets2\dashboard__quarterly_avg_satisfaction_rate.png"/>
          <p:cNvPicPr>
            <a:picLocks noChangeAspect="1"/>
          </p:cNvPicPr>
          <p:nvPr/>
        </p:nvPicPr>
        <p:blipFill>
          <a:blip r:embed="rId3"/>
          <a:stretch>
            <a:fillRect/>
          </a:stretch>
        </p:blipFill>
        <p:spPr>
          <a:xfrm>
            <a:off x="566928" y="1225296"/>
            <a:ext cx="4983480" cy="2788920"/>
          </a:xfrm>
          <a:prstGeom prst="rect">
            <a:avLst/>
          </a:prstGeom>
        </p:spPr>
      </p:pic>
      <p:sp>
        <p:nvSpPr>
          <p:cNvPr id="5" name="Text 2"/>
          <p:cNvSpPr txBox="1"/>
          <p:nvPr/>
        </p:nvSpPr>
        <p:spPr>
          <a:xfrm>
            <a:off x="56692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Quarterly Avg Satisfaction Rate</a:t>
            </a:r>
            <a:endParaRPr lang="en-US" sz="1250" dirty="0"/>
          </a:p>
        </p:txBody>
      </p:sp>
      <p:sp>
        <p:nvSpPr>
          <p:cNvPr id="6" name="Text 3"/>
          <p:cNvSpPr txBox="1"/>
          <p:nvPr/>
        </p:nvSpPr>
        <p:spPr>
          <a:xfrm>
            <a:off x="56692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Satisfaction climbed steadily from 3.95 to about 4.16 across the twenty quarters.</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It rose in every single year: 3.98, 4.07, 4.09, 4.12, 4.16.</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Service quality improved while volume more than doubled.</a:t>
            </a:r>
            <a:endParaRPr lang="en-US" sz="1150" dirty="0"/>
          </a:p>
        </p:txBody>
      </p:sp>
      <p:pic>
        <p:nvPicPr>
          <p:cNvPr id="7" name="Image 1" descr="C:\Users\ravik\OneDrive\Desktop\New folder\assets2\dashboard__quarterly_avg_resolution_time.png"/>
          <p:cNvPicPr>
            <a:picLocks noChangeAspect="1"/>
          </p:cNvPicPr>
          <p:nvPr/>
        </p:nvPicPr>
        <p:blipFill>
          <a:blip r:embed="rId4"/>
          <a:stretch>
            <a:fillRect/>
          </a:stretch>
        </p:blipFill>
        <p:spPr>
          <a:xfrm>
            <a:off x="6327648" y="1225296"/>
            <a:ext cx="4983480" cy="2788920"/>
          </a:xfrm>
          <a:prstGeom prst="rect">
            <a:avLst/>
          </a:prstGeom>
        </p:spPr>
      </p:pic>
      <p:sp>
        <p:nvSpPr>
          <p:cNvPr id="8" name="Text 4"/>
          <p:cNvSpPr txBox="1"/>
          <p:nvPr/>
        </p:nvSpPr>
        <p:spPr>
          <a:xfrm>
            <a:off x="6327648" y="4078224"/>
            <a:ext cx="498348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Quarterly Avg Resolution Time</a:t>
            </a:r>
            <a:endParaRPr lang="en-US" sz="1250" dirty="0"/>
          </a:p>
        </p:txBody>
      </p:sp>
      <p:sp>
        <p:nvSpPr>
          <p:cNvPr id="9" name="Text 5"/>
          <p:cNvSpPr txBox="1"/>
          <p:nvPr/>
        </p:nvSpPr>
        <p:spPr>
          <a:xfrm>
            <a:off x="6327648" y="4407408"/>
            <a:ext cx="4983480" cy="20116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Resolution time oscillates in a narrow band — roughly 4.5 to 4.65 days — with no upward drift.</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Yearly averages moved only between 4.52 and 4.59 days across the whole period.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team absorbed 123% more work without slowing down: there is no performance emergency to fund.</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4480560"/>
            <a:ext cx="3657600" cy="3657600"/>
          </a:xfrm>
          <a:prstGeom prst="ellipse">
            <a:avLst/>
          </a:prstGeom>
          <a:solidFill>
            <a:srgbClr val="141C45"/>
          </a:solidFill>
          <a:ln/>
        </p:spPr>
      </p:sp>
      <p:sp>
        <p:nvSpPr>
          <p:cNvPr id="3" name="Text 1"/>
          <p:cNvSpPr txBox="1"/>
          <p:nvPr/>
        </p:nvSpPr>
        <p:spPr>
          <a:xfrm>
            <a:off x="566928" y="640080"/>
            <a:ext cx="7315200" cy="320040"/>
          </a:xfrm>
          <a:prstGeom prst="rect">
            <a:avLst/>
          </a:prstGeom>
          <a:noFill/>
          <a:ln/>
        </p:spPr>
        <p:txBody>
          <a:bodyPr wrap="square" lIns="0" tIns="0" rIns="0" bIns="0" rtlCol="0" anchor="ctr"/>
          <a:lstStyle/>
          <a:p>
            <a:pPr marL="0" indent="0">
              <a:buNone/>
            </a:pPr>
            <a:r>
              <a:rPr lang="en-US" sz="1200" b="1" kern="0" spc="300" dirty="0">
                <a:solidFill>
                  <a:srgbClr val="E8833A"/>
                </a:solidFill>
                <a:latin typeface="Calibri" pitchFamily="34" charset="0"/>
                <a:ea typeface="Calibri" pitchFamily="34" charset="-122"/>
                <a:cs typeface="Calibri" pitchFamily="34" charset="-120"/>
              </a:rPr>
              <a:t>SLIDE 22  ·  CONCLUSION</a:t>
            </a:r>
            <a:endParaRPr lang="en-US" sz="1200" dirty="0"/>
          </a:p>
        </p:txBody>
      </p:sp>
      <p:sp>
        <p:nvSpPr>
          <p:cNvPr id="4" name="Text 2"/>
          <p:cNvSpPr txBox="1"/>
          <p:nvPr/>
        </p:nvSpPr>
        <p:spPr>
          <a:xfrm>
            <a:off x="566928" y="987552"/>
            <a:ext cx="10515600" cy="73152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A team performing well, with three fixable weaknesses</a:t>
            </a:r>
            <a:endParaRPr lang="en-US" sz="3100" dirty="0"/>
          </a:p>
        </p:txBody>
      </p:sp>
      <p:sp>
        <p:nvSpPr>
          <p:cNvPr id="5" name="Shape 3"/>
          <p:cNvSpPr/>
          <p:nvPr/>
        </p:nvSpPr>
        <p:spPr>
          <a:xfrm>
            <a:off x="566928" y="2011680"/>
            <a:ext cx="420624" cy="420624"/>
          </a:xfrm>
          <a:prstGeom prst="ellipse">
            <a:avLst/>
          </a:prstGeom>
          <a:solidFill>
            <a:srgbClr val="E8833A"/>
          </a:solidFill>
          <a:ln/>
        </p:spPr>
      </p:sp>
      <p:sp>
        <p:nvSpPr>
          <p:cNvPr id="6" name="Text 4"/>
          <p:cNvSpPr txBox="1"/>
          <p:nvPr/>
        </p:nvSpPr>
        <p:spPr>
          <a:xfrm>
            <a:off x="566928" y="20116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70432" y="1975104"/>
            <a:ext cx="7077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Performance varies by individual, not by workload</a:t>
            </a:r>
            <a:endParaRPr lang="en-US" sz="1500" dirty="0"/>
          </a:p>
        </p:txBody>
      </p:sp>
      <p:sp>
        <p:nvSpPr>
          <p:cNvPr id="8" name="Text 6"/>
          <p:cNvSpPr txBox="1"/>
          <p:nvPr/>
        </p:nvSpPr>
        <p:spPr>
          <a:xfrm>
            <a:off x="1170432" y="2267712"/>
            <a:ext cx="7077456" cy="749808"/>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All 50 agents carry within 9% of the same caseload, yet satisfaction ranges 3.04 to 4.60. Coaching closes that — not recruitment.</a:t>
            </a:r>
            <a:endParaRPr lang="en-US" sz="1200" dirty="0"/>
          </a:p>
        </p:txBody>
      </p:sp>
      <p:sp>
        <p:nvSpPr>
          <p:cNvPr id="9" name="Shape 7"/>
          <p:cNvSpPr/>
          <p:nvPr/>
        </p:nvSpPr>
        <p:spPr>
          <a:xfrm>
            <a:off x="566928" y="3072384"/>
            <a:ext cx="420624" cy="420624"/>
          </a:xfrm>
          <a:prstGeom prst="ellipse">
            <a:avLst/>
          </a:prstGeom>
          <a:solidFill>
            <a:srgbClr val="E8833A"/>
          </a:solidFill>
          <a:ln/>
        </p:spPr>
      </p:sp>
      <p:sp>
        <p:nvSpPr>
          <p:cNvPr id="10" name="Text 8"/>
          <p:cNvSpPr txBox="1"/>
          <p:nvPr/>
        </p:nvSpPr>
        <p:spPr>
          <a:xfrm>
            <a:off x="566928" y="307238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70432" y="3035808"/>
            <a:ext cx="7077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Delay is driven by category, not severity</a:t>
            </a:r>
            <a:endParaRPr lang="en-US" sz="1500" dirty="0"/>
          </a:p>
        </p:txBody>
      </p:sp>
      <p:sp>
        <p:nvSpPr>
          <p:cNvPr id="12" name="Text 10"/>
          <p:cNvSpPr txBox="1"/>
          <p:nvPr/>
        </p:nvSpPr>
        <p:spPr>
          <a:xfrm>
            <a:off x="1170432" y="3328416"/>
            <a:ext cx="7077456" cy="749808"/>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Hardware 7.63 days against Login Access 0.31. Severity correlates with resolution time at just −0.04.</a:t>
            </a:r>
            <a:endParaRPr lang="en-US" sz="1200" dirty="0"/>
          </a:p>
        </p:txBody>
      </p:sp>
      <p:sp>
        <p:nvSpPr>
          <p:cNvPr id="13" name="Shape 11"/>
          <p:cNvSpPr/>
          <p:nvPr/>
        </p:nvSpPr>
        <p:spPr>
          <a:xfrm>
            <a:off x="566928" y="4133088"/>
            <a:ext cx="420624" cy="420624"/>
          </a:xfrm>
          <a:prstGeom prst="ellipse">
            <a:avLst/>
          </a:prstGeom>
          <a:solidFill>
            <a:srgbClr val="E8833A"/>
          </a:solidFill>
          <a:ln/>
        </p:spPr>
      </p:sp>
      <p:sp>
        <p:nvSpPr>
          <p:cNvPr id="14" name="Text 12"/>
          <p:cNvSpPr txBox="1"/>
          <p:nvPr/>
        </p:nvSpPr>
        <p:spPr>
          <a:xfrm>
            <a:off x="566928" y="4133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70432" y="4096512"/>
            <a:ext cx="7077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Triage is broken</a:t>
            </a:r>
            <a:endParaRPr lang="en-US" sz="1500" dirty="0"/>
          </a:p>
        </p:txBody>
      </p:sp>
      <p:sp>
        <p:nvSpPr>
          <p:cNvPr id="16" name="Text 14"/>
          <p:cNvSpPr txBox="1"/>
          <p:nvPr/>
        </p:nvSpPr>
        <p:spPr>
          <a:xfrm>
            <a:off x="1170432" y="4389120"/>
            <a:ext cx="7077456" cy="749808"/>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30.2% of tickets logged with no priority, and Urgent tickets resolved faster than Normal ones.</a:t>
            </a:r>
            <a:endParaRPr lang="en-US" sz="1200" dirty="0"/>
          </a:p>
        </p:txBody>
      </p:sp>
      <p:sp>
        <p:nvSpPr>
          <p:cNvPr id="17" name="Text 15"/>
          <p:cNvSpPr txBox="1"/>
          <p:nvPr/>
        </p:nvSpPr>
        <p:spPr>
          <a:xfrm>
            <a:off x="566928" y="5321808"/>
            <a:ext cx="8778240" cy="50292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Train first. Upgrade the tooling next. Hold on hiring. Dismiss no one.</a:t>
            </a:r>
            <a:endParaRPr lang="en-US" sz="1900" dirty="0"/>
          </a:p>
        </p:txBody>
      </p:sp>
      <p:sp>
        <p:nvSpPr>
          <p:cNvPr id="18" name="Text 16"/>
          <p:cNvSpPr txBox="1"/>
          <p:nvPr/>
        </p:nvSpPr>
        <p:spPr>
          <a:xfrm>
            <a:off x="566928" y="5870448"/>
            <a:ext cx="8778240" cy="5486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This analysis turns a growing but reactive IT function into a proactive, scalable one — and every rupee of the recommendation is tied to a number in the workbook.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55448"/>
            <a:ext cx="11055096" cy="274320"/>
          </a:xfrm>
          <a:prstGeom prst="rect">
            <a:avLst/>
          </a:prstGeom>
          <a:noFill/>
          <a:ln/>
        </p:spPr>
        <p:txBody>
          <a:bodyPr wrap="square" lIns="0" tIns="0" rIns="0" bIns="0" rtlCol="0" anchor="ctr"/>
          <a:lstStyle/>
          <a:p>
            <a:pPr marL="0" indent="0">
              <a:buNone/>
            </a:pPr>
            <a:r>
              <a:rPr lang="en-US" sz="1100" b="1" kern="0" spc="200" dirty="0">
                <a:solidFill>
                  <a:srgbClr val="E8833A"/>
                </a:solidFill>
                <a:latin typeface="Calibri" pitchFamily="34" charset="0"/>
                <a:ea typeface="Calibri" pitchFamily="34" charset="-122"/>
                <a:cs typeface="Calibri" pitchFamily="34" charset="-120"/>
              </a:rPr>
              <a:t>SLIDE 23</a:t>
            </a:r>
            <a:endParaRPr lang="en-US" sz="1100" dirty="0"/>
          </a:p>
        </p:txBody>
      </p:sp>
      <p:sp>
        <p:nvSpPr>
          <p:cNvPr id="3" name="Text 1"/>
          <p:cNvSpPr txBox="1"/>
          <p:nvPr/>
        </p:nvSpPr>
        <p:spPr>
          <a:xfrm>
            <a:off x="566928" y="402336"/>
            <a:ext cx="11055096" cy="7772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Acknowledgements and References</a:t>
            </a:r>
            <a:endParaRPr lang="en-US" sz="3200" dirty="0"/>
          </a:p>
        </p:txBody>
      </p:sp>
      <p:sp>
        <p:nvSpPr>
          <p:cNvPr id="4" name="Shape 2"/>
          <p:cNvSpPr/>
          <p:nvPr/>
        </p:nvSpPr>
        <p:spPr>
          <a:xfrm>
            <a:off x="566928" y="1554480"/>
            <a:ext cx="5486400" cy="3931920"/>
          </a:xfrm>
          <a:prstGeom prst="roundRect">
            <a:avLst>
              <a:gd name="adj" fmla="val 1395"/>
            </a:avLst>
          </a:prstGeom>
          <a:solidFill>
            <a:srgbClr val="F4F7FB"/>
          </a:solidFill>
          <a:ln/>
        </p:spPr>
      </p:sp>
      <p:sp>
        <p:nvSpPr>
          <p:cNvPr id="5" name="Text 3"/>
          <p:cNvSpPr txBox="1"/>
          <p:nvPr/>
        </p:nvSpPr>
        <p:spPr>
          <a:xfrm>
            <a:off x="822960" y="1773936"/>
            <a:ext cx="4974336" cy="310896"/>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 sources</a:t>
            </a:r>
            <a:endParaRPr lang="en-US" sz="1400" dirty="0"/>
          </a:p>
        </p:txBody>
      </p:sp>
      <p:sp>
        <p:nvSpPr>
          <p:cNvPr id="6" name="Text 4"/>
          <p:cNvSpPr txBox="1"/>
          <p:nvPr/>
        </p:nvSpPr>
        <p:spPr>
          <a:xfrm>
            <a:off x="822960" y="2139696"/>
            <a:ext cx="4974336" cy="31089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IT Tickets Analysis dataset — Tickets sheet (97,498 records) and IT Agents sheet (50 records), supplied with the project brief.</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Period covered: 01-Jan-2016 to 31-Dec-2020.</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Agent email domain: fp20analytics.com (source of the cleaned agent names).</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No external or third-party data was used; every figure is derived from the supplied dataset.</a:t>
            </a:r>
            <a:endParaRPr lang="en-US" sz="1150" dirty="0"/>
          </a:p>
        </p:txBody>
      </p:sp>
      <p:sp>
        <p:nvSpPr>
          <p:cNvPr id="7" name="Shape 5"/>
          <p:cNvSpPr/>
          <p:nvPr/>
        </p:nvSpPr>
        <p:spPr>
          <a:xfrm>
            <a:off x="6382512" y="1554480"/>
            <a:ext cx="5257800" cy="3931920"/>
          </a:xfrm>
          <a:prstGeom prst="roundRect">
            <a:avLst>
              <a:gd name="adj" fmla="val 1395"/>
            </a:avLst>
          </a:prstGeom>
          <a:solidFill>
            <a:srgbClr val="F4F7FB"/>
          </a:solidFill>
          <a:ln/>
        </p:spPr>
      </p:sp>
      <p:sp>
        <p:nvSpPr>
          <p:cNvPr id="8" name="Text 6"/>
          <p:cNvSpPr txBox="1"/>
          <p:nvPr/>
        </p:nvSpPr>
        <p:spPr>
          <a:xfrm>
            <a:off x="6638544" y="1773936"/>
            <a:ext cx="4745736" cy="310896"/>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Tools and acknowledgements</a:t>
            </a:r>
            <a:endParaRPr lang="en-US" sz="1400" dirty="0"/>
          </a:p>
        </p:txBody>
      </p:sp>
      <p:sp>
        <p:nvSpPr>
          <p:cNvPr id="9" name="Text 7"/>
          <p:cNvSpPr txBox="1"/>
          <p:nvPr/>
        </p:nvSpPr>
        <p:spPr>
          <a:xfrm>
            <a:off x="6638544" y="2139696"/>
            <a:ext cx="4745736" cy="31089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Microsoft Excel — tables, pivot tables, slicers and charts.</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Functions used: VLOOKUP, MID, FIND, LEN, DATE, DATEDIF, CORREL, COUNTIF, COUNTBLANK, AVERAGE, MEDIAN, ROUND, SUMPRODUCT.</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Project brief, submission guidelines and document/spreadsheet templates provided by the course team.</a:t>
            </a:r>
            <a:endParaRPr lang="en-US" sz="1150" dirty="0"/>
          </a:p>
          <a:p>
            <a:pPr marL="342900" indent="-342900">
              <a:spcAft>
                <a:spcPts val="900"/>
              </a:spcAft>
              <a:buSzPct val="100000"/>
              <a:buChar char="•"/>
            </a:pPr>
            <a:r>
              <a:rPr lang="en-US" sz="1150" dirty="0">
                <a:solidFill>
                  <a:srgbClr val="1A1A1A"/>
                </a:solidFill>
                <a:latin typeface="Calibri" pitchFamily="34" charset="0"/>
                <a:ea typeface="Calibri" pitchFamily="34" charset="-122"/>
                <a:cs typeface="Calibri" pitchFamily="34" charset="-120"/>
              </a:rPr>
              <a:t>Thanks to the course team and mentors for the project brief and the sample approach guidelines followed in this deck.</a:t>
            </a:r>
            <a:endParaRPr lang="en-US" sz="1150" dirty="0"/>
          </a:p>
        </p:txBody>
      </p:sp>
      <p:sp>
        <p:nvSpPr>
          <p:cNvPr id="10" name="Text 8"/>
          <p:cNvSpPr txBox="1"/>
          <p:nvPr/>
        </p:nvSpPr>
        <p:spPr>
          <a:xfrm>
            <a:off x="566928" y="5705856"/>
            <a:ext cx="11055096" cy="45720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Accompanying submission:   IT_Tickets_Analysis_RaviKiranGoud.xlsx   ·   IT_Tickets_Analysis_Answers_RaviKiranGoud.docx</a:t>
            </a:r>
            <a:endParaRPr lang="en-US" sz="1200" dirty="0"/>
          </a:p>
        </p:txBody>
      </p:sp>
      <p:sp>
        <p:nvSpPr>
          <p:cNvPr id="11" name="Text 9"/>
          <p:cNvSpPr txBox="1"/>
          <p:nvPr/>
        </p:nvSpPr>
        <p:spPr>
          <a:xfrm>
            <a:off x="566928" y="6144768"/>
            <a:ext cx="11055096" cy="36576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Prepared by RaviKiran Goud  </a:t>
            </a:r>
            <a:r>
              <a:rPr lang="en-US" sz="1200" b="1">
                <a:solidFill>
                  <a:srgbClr val="1E2761"/>
                </a:solidFill>
                <a:latin typeface="Calibri" pitchFamily="34" charset="0"/>
                <a:ea typeface="Calibri" pitchFamily="34" charset="-122"/>
                <a:cs typeface="Calibri" pitchFamily="34" charset="-120"/>
              </a:rPr>
              <a:t>·  30 </a:t>
            </a:r>
            <a:r>
              <a:rPr lang="en-US" sz="1200" b="1" dirty="0">
                <a:solidFill>
                  <a:srgbClr val="1E2761"/>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4552</Words>
  <Application>Microsoft Office PowerPoint</Application>
  <PresentationFormat>Widescreen</PresentationFormat>
  <Paragraphs>368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 Analysis</dc:title>
  <dc:subject>PptxGenJS Presentation</dc:subject>
  <dc:creator>RaviKiran Goud</dc:creator>
  <cp:lastModifiedBy>ravikiran goud</cp:lastModifiedBy>
  <cp:revision>1</cp:revision>
  <dcterms:created xsi:type="dcterms:W3CDTF">2026-09-30T16:29:41Z</dcterms:created>
  <dcterms:modified xsi:type="dcterms:W3CDTF">2026-09-30T16:51:01Z</dcterms:modified>
</cp:coreProperties>
</file>